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0265688" cy="42792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76"/>
    <p:restoredTop sz="94673"/>
  </p:normalViewPr>
  <p:slideViewPr>
    <p:cSldViewPr snapToGrid="0">
      <p:cViewPr>
        <p:scale>
          <a:sx n="45" d="100"/>
          <a:sy n="45" d="100"/>
        </p:scale>
        <p:origin x="1440" y="-6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8EC277-0952-7645-B084-C1FBA1BC9FF5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BD038-93C8-DE44-92B7-28CD8708EFC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7124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llm_context_length.pdf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BD038-93C8-DE44-92B7-28CD8708EFCE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8671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9927" y="7003337"/>
            <a:ext cx="25725835" cy="14898182"/>
          </a:xfrm>
        </p:spPr>
        <p:txBody>
          <a:bodyPr anchor="b"/>
          <a:lstStyle>
            <a:lvl1pPr algn="ctr">
              <a:defRPr sz="198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3211" y="22476050"/>
            <a:ext cx="22699266" cy="10331648"/>
          </a:xfrm>
        </p:spPr>
        <p:txBody>
          <a:bodyPr/>
          <a:lstStyle>
            <a:lvl1pPr marL="0" indent="0" algn="ctr">
              <a:buNone/>
              <a:defRPr sz="7944"/>
            </a:lvl1pPr>
            <a:lvl2pPr marL="1513286" indent="0" algn="ctr">
              <a:buNone/>
              <a:defRPr sz="6620"/>
            </a:lvl2pPr>
            <a:lvl3pPr marL="3026573" indent="0" algn="ctr">
              <a:buNone/>
              <a:defRPr sz="5958"/>
            </a:lvl3pPr>
            <a:lvl4pPr marL="4539859" indent="0" algn="ctr">
              <a:buNone/>
              <a:defRPr sz="5296"/>
            </a:lvl4pPr>
            <a:lvl5pPr marL="6053145" indent="0" algn="ctr">
              <a:buNone/>
              <a:defRPr sz="5296"/>
            </a:lvl5pPr>
            <a:lvl6pPr marL="7566431" indent="0" algn="ctr">
              <a:buNone/>
              <a:defRPr sz="5296"/>
            </a:lvl6pPr>
            <a:lvl7pPr marL="9079718" indent="0" algn="ctr">
              <a:buNone/>
              <a:defRPr sz="5296"/>
            </a:lvl7pPr>
            <a:lvl8pPr marL="10593004" indent="0" algn="ctr">
              <a:buNone/>
              <a:defRPr sz="5296"/>
            </a:lvl8pPr>
            <a:lvl9pPr marL="12106290" indent="0" algn="ctr">
              <a:buNone/>
              <a:defRPr sz="529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708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11123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004" y="10668458"/>
            <a:ext cx="26104156" cy="17800551"/>
          </a:xfrm>
        </p:spPr>
        <p:txBody>
          <a:bodyPr anchor="b"/>
          <a:lstStyle>
            <a:lvl1pPr>
              <a:defRPr sz="198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004" y="28637409"/>
            <a:ext cx="26104156" cy="9360889"/>
          </a:xfrm>
        </p:spPr>
        <p:txBody>
          <a:bodyPr/>
          <a:lstStyle>
            <a:lvl1pPr marL="0" indent="0">
              <a:buNone/>
              <a:defRPr sz="7944">
                <a:solidFill>
                  <a:schemeClr val="tx1">
                    <a:tint val="82000"/>
                  </a:schemeClr>
                </a:solidFill>
              </a:defRPr>
            </a:lvl1pPr>
            <a:lvl2pPr marL="1513286" indent="0">
              <a:buNone/>
              <a:defRPr sz="6620">
                <a:solidFill>
                  <a:schemeClr val="tx1">
                    <a:tint val="82000"/>
                  </a:schemeClr>
                </a:solidFill>
              </a:defRPr>
            </a:lvl2pPr>
            <a:lvl3pPr marL="3026573" indent="0">
              <a:buNone/>
              <a:defRPr sz="5958">
                <a:solidFill>
                  <a:schemeClr val="tx1">
                    <a:tint val="82000"/>
                  </a:schemeClr>
                </a:solidFill>
              </a:defRPr>
            </a:lvl3pPr>
            <a:lvl4pPr marL="4539859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4pPr>
            <a:lvl5pPr marL="6053145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5pPr>
            <a:lvl6pPr marL="7566431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6pPr>
            <a:lvl7pPr marL="9079718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7pPr>
            <a:lvl8pPr marL="10593004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8pPr>
            <a:lvl9pPr marL="12106290" indent="0">
              <a:buNone/>
              <a:defRPr sz="52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1987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0766" y="11391562"/>
            <a:ext cx="12862917" cy="27151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2005" y="11391562"/>
            <a:ext cx="12862917" cy="271515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5002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08" y="2278322"/>
            <a:ext cx="26104156" cy="82712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4711" y="10490146"/>
            <a:ext cx="12803803" cy="5141058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286" indent="0">
              <a:buNone/>
              <a:defRPr sz="6620" b="1"/>
            </a:lvl2pPr>
            <a:lvl3pPr marL="3026573" indent="0">
              <a:buNone/>
              <a:defRPr sz="5958" b="1"/>
            </a:lvl3pPr>
            <a:lvl4pPr marL="4539859" indent="0">
              <a:buNone/>
              <a:defRPr sz="5296" b="1"/>
            </a:lvl4pPr>
            <a:lvl5pPr marL="6053145" indent="0">
              <a:buNone/>
              <a:defRPr sz="5296" b="1"/>
            </a:lvl5pPr>
            <a:lvl6pPr marL="7566431" indent="0">
              <a:buNone/>
              <a:defRPr sz="5296" b="1"/>
            </a:lvl6pPr>
            <a:lvl7pPr marL="9079718" indent="0">
              <a:buNone/>
              <a:defRPr sz="5296" b="1"/>
            </a:lvl7pPr>
            <a:lvl8pPr marL="10593004" indent="0">
              <a:buNone/>
              <a:defRPr sz="5296" b="1"/>
            </a:lvl8pPr>
            <a:lvl9pPr marL="12106290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4711" y="15631204"/>
            <a:ext cx="12803803" cy="22991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2006" y="10490146"/>
            <a:ext cx="12866859" cy="5141058"/>
          </a:xfrm>
        </p:spPr>
        <p:txBody>
          <a:bodyPr anchor="b"/>
          <a:lstStyle>
            <a:lvl1pPr marL="0" indent="0">
              <a:buNone/>
              <a:defRPr sz="7944" b="1"/>
            </a:lvl1pPr>
            <a:lvl2pPr marL="1513286" indent="0">
              <a:buNone/>
              <a:defRPr sz="6620" b="1"/>
            </a:lvl2pPr>
            <a:lvl3pPr marL="3026573" indent="0">
              <a:buNone/>
              <a:defRPr sz="5958" b="1"/>
            </a:lvl3pPr>
            <a:lvl4pPr marL="4539859" indent="0">
              <a:buNone/>
              <a:defRPr sz="5296" b="1"/>
            </a:lvl4pPr>
            <a:lvl5pPr marL="6053145" indent="0">
              <a:buNone/>
              <a:defRPr sz="5296" b="1"/>
            </a:lvl5pPr>
            <a:lvl6pPr marL="7566431" indent="0">
              <a:buNone/>
              <a:defRPr sz="5296" b="1"/>
            </a:lvl6pPr>
            <a:lvl7pPr marL="9079718" indent="0">
              <a:buNone/>
              <a:defRPr sz="5296" b="1"/>
            </a:lvl7pPr>
            <a:lvl8pPr marL="10593004" indent="0">
              <a:buNone/>
              <a:defRPr sz="5296" b="1"/>
            </a:lvl8pPr>
            <a:lvl9pPr marL="12106290" indent="0">
              <a:buNone/>
              <a:defRPr sz="529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2006" y="15631204"/>
            <a:ext cx="12866859" cy="22991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73775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429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4849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08" y="2852843"/>
            <a:ext cx="9761472" cy="998495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66859" y="6161359"/>
            <a:ext cx="15322005" cy="30410517"/>
          </a:xfrm>
        </p:spPr>
        <p:txBody>
          <a:bodyPr/>
          <a:lstStyle>
            <a:lvl1pPr>
              <a:defRPr sz="10592"/>
            </a:lvl1pPr>
            <a:lvl2pPr>
              <a:defRPr sz="9268"/>
            </a:lvl2pPr>
            <a:lvl3pPr>
              <a:defRPr sz="7944"/>
            </a:lvl3pPr>
            <a:lvl4pPr>
              <a:defRPr sz="6620"/>
            </a:lvl4pPr>
            <a:lvl5pPr>
              <a:defRPr sz="6620"/>
            </a:lvl5pPr>
            <a:lvl6pPr>
              <a:defRPr sz="6620"/>
            </a:lvl6pPr>
            <a:lvl7pPr>
              <a:defRPr sz="6620"/>
            </a:lvl7pPr>
            <a:lvl8pPr>
              <a:defRPr sz="6620"/>
            </a:lvl8pPr>
            <a:lvl9pPr>
              <a:defRPr sz="66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708" y="12837795"/>
            <a:ext cx="9761472" cy="23783603"/>
          </a:xfrm>
        </p:spPr>
        <p:txBody>
          <a:bodyPr/>
          <a:lstStyle>
            <a:lvl1pPr marL="0" indent="0">
              <a:buNone/>
              <a:defRPr sz="5296"/>
            </a:lvl1pPr>
            <a:lvl2pPr marL="1513286" indent="0">
              <a:buNone/>
              <a:defRPr sz="4634"/>
            </a:lvl2pPr>
            <a:lvl3pPr marL="3026573" indent="0">
              <a:buNone/>
              <a:defRPr sz="3972"/>
            </a:lvl3pPr>
            <a:lvl4pPr marL="4539859" indent="0">
              <a:buNone/>
              <a:defRPr sz="3310"/>
            </a:lvl4pPr>
            <a:lvl5pPr marL="6053145" indent="0">
              <a:buNone/>
              <a:defRPr sz="3310"/>
            </a:lvl5pPr>
            <a:lvl6pPr marL="7566431" indent="0">
              <a:buNone/>
              <a:defRPr sz="3310"/>
            </a:lvl6pPr>
            <a:lvl7pPr marL="9079718" indent="0">
              <a:buNone/>
              <a:defRPr sz="3310"/>
            </a:lvl7pPr>
            <a:lvl8pPr marL="10593004" indent="0">
              <a:buNone/>
              <a:defRPr sz="3310"/>
            </a:lvl8pPr>
            <a:lvl9pPr marL="12106290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79448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4708" y="2852843"/>
            <a:ext cx="9761472" cy="9984952"/>
          </a:xfrm>
        </p:spPr>
        <p:txBody>
          <a:bodyPr anchor="b"/>
          <a:lstStyle>
            <a:lvl1pPr>
              <a:defRPr sz="1059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66859" y="6161359"/>
            <a:ext cx="15322005" cy="30410517"/>
          </a:xfrm>
        </p:spPr>
        <p:txBody>
          <a:bodyPr anchor="t"/>
          <a:lstStyle>
            <a:lvl1pPr marL="0" indent="0">
              <a:buNone/>
              <a:defRPr sz="10592"/>
            </a:lvl1pPr>
            <a:lvl2pPr marL="1513286" indent="0">
              <a:buNone/>
              <a:defRPr sz="9268"/>
            </a:lvl2pPr>
            <a:lvl3pPr marL="3026573" indent="0">
              <a:buNone/>
              <a:defRPr sz="7944"/>
            </a:lvl3pPr>
            <a:lvl4pPr marL="4539859" indent="0">
              <a:buNone/>
              <a:defRPr sz="6620"/>
            </a:lvl4pPr>
            <a:lvl5pPr marL="6053145" indent="0">
              <a:buNone/>
              <a:defRPr sz="6620"/>
            </a:lvl5pPr>
            <a:lvl6pPr marL="7566431" indent="0">
              <a:buNone/>
              <a:defRPr sz="6620"/>
            </a:lvl6pPr>
            <a:lvl7pPr marL="9079718" indent="0">
              <a:buNone/>
              <a:defRPr sz="6620"/>
            </a:lvl7pPr>
            <a:lvl8pPr marL="10593004" indent="0">
              <a:buNone/>
              <a:defRPr sz="6620"/>
            </a:lvl8pPr>
            <a:lvl9pPr marL="12106290" indent="0">
              <a:buNone/>
              <a:defRPr sz="66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4708" y="12837795"/>
            <a:ext cx="9761472" cy="23783603"/>
          </a:xfrm>
        </p:spPr>
        <p:txBody>
          <a:bodyPr/>
          <a:lstStyle>
            <a:lvl1pPr marL="0" indent="0">
              <a:buNone/>
              <a:defRPr sz="5296"/>
            </a:lvl1pPr>
            <a:lvl2pPr marL="1513286" indent="0">
              <a:buNone/>
              <a:defRPr sz="4634"/>
            </a:lvl2pPr>
            <a:lvl3pPr marL="3026573" indent="0">
              <a:buNone/>
              <a:defRPr sz="3972"/>
            </a:lvl3pPr>
            <a:lvl4pPr marL="4539859" indent="0">
              <a:buNone/>
              <a:defRPr sz="3310"/>
            </a:lvl4pPr>
            <a:lvl5pPr marL="6053145" indent="0">
              <a:buNone/>
              <a:defRPr sz="3310"/>
            </a:lvl5pPr>
            <a:lvl6pPr marL="7566431" indent="0">
              <a:buNone/>
              <a:defRPr sz="3310"/>
            </a:lvl6pPr>
            <a:lvl7pPr marL="9079718" indent="0">
              <a:buNone/>
              <a:defRPr sz="3310"/>
            </a:lvl7pPr>
            <a:lvl8pPr marL="10593004" indent="0">
              <a:buNone/>
              <a:defRPr sz="3310"/>
            </a:lvl8pPr>
            <a:lvl9pPr marL="12106290" indent="0">
              <a:buNone/>
              <a:defRPr sz="33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1147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4994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58885" y="2278312"/>
            <a:ext cx="6526039" cy="362647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0768" y="2278312"/>
            <a:ext cx="19199796" cy="36264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2013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0766" y="2278322"/>
            <a:ext cx="26104156" cy="8271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0766" y="11391562"/>
            <a:ext cx="26104156" cy="27151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0766" y="39662456"/>
            <a:ext cx="6809780" cy="227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97968-5584-7D43-A620-98E82AC7A00B}" type="datetimeFigureOut">
              <a:rPr lang="en-CN" smtClean="0"/>
              <a:t>2025/6/29</a:t>
            </a:fld>
            <a:endParaRPr lang="en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5509" y="39662456"/>
            <a:ext cx="10214670" cy="227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75142" y="39662456"/>
            <a:ext cx="6809780" cy="22783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02FDF-B68A-734D-9C3E-B761EAA7F15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08123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026573" rtl="0" eaLnBrk="1" latinLnBrk="0" hangingPunct="1">
        <a:lnSpc>
          <a:spcPct val="90000"/>
        </a:lnSpc>
        <a:spcBef>
          <a:spcPct val="0"/>
        </a:spcBef>
        <a:buNone/>
        <a:defRPr sz="145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643" indent="-756643" algn="l" defTabSz="3026573" rtl="0" eaLnBrk="1" latinLnBrk="0" hangingPunct="1">
        <a:lnSpc>
          <a:spcPct val="90000"/>
        </a:lnSpc>
        <a:spcBef>
          <a:spcPts val="3310"/>
        </a:spcBef>
        <a:buFont typeface="Arial" panose="020B0604020202020204" pitchFamily="34" charset="0"/>
        <a:buChar char="•"/>
        <a:defRPr sz="9268" kern="1200">
          <a:solidFill>
            <a:schemeClr val="tx1"/>
          </a:solidFill>
          <a:latin typeface="+mn-lt"/>
          <a:ea typeface="+mn-ea"/>
          <a:cs typeface="+mn-cs"/>
        </a:defRPr>
      </a:lvl1pPr>
      <a:lvl2pPr marL="2269929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4" kern="1200">
          <a:solidFill>
            <a:schemeClr val="tx1"/>
          </a:solidFill>
          <a:latin typeface="+mn-lt"/>
          <a:ea typeface="+mn-ea"/>
          <a:cs typeface="+mn-cs"/>
        </a:defRPr>
      </a:lvl2pPr>
      <a:lvl3pPr marL="3783216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0" kern="1200">
          <a:solidFill>
            <a:schemeClr val="tx1"/>
          </a:solidFill>
          <a:latin typeface="+mn-lt"/>
          <a:ea typeface="+mn-ea"/>
          <a:cs typeface="+mn-cs"/>
        </a:defRPr>
      </a:lvl3pPr>
      <a:lvl4pPr marL="5296502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809788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8323075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836361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1349647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862933" indent="-756643" algn="l" defTabSz="3026573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1pPr>
      <a:lvl2pPr marL="1513286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2pPr>
      <a:lvl3pPr marL="3026573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3pPr>
      <a:lvl4pPr marL="4539859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4pPr>
      <a:lvl5pPr marL="6053145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5pPr>
      <a:lvl6pPr marL="7566431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6pPr>
      <a:lvl7pPr marL="9079718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7pPr>
      <a:lvl8pPr marL="10593004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8pPr>
      <a:lvl9pPr marL="12106290" algn="l" defTabSz="3026573" rtl="0" eaLnBrk="1" latinLnBrk="0" hangingPunct="1">
        <a:defRPr sz="59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emf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8AFD9E2B-F93E-4FE9-3974-F4CDCCB9CE9C}"/>
              </a:ext>
            </a:extLst>
          </p:cNvPr>
          <p:cNvSpPr txBox="1"/>
          <p:nvPr/>
        </p:nvSpPr>
        <p:spPr>
          <a:xfrm>
            <a:off x="51453" y="64510"/>
            <a:ext cx="30186009" cy="4813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00" b="1" dirty="0"/>
              <a:t>InfiniSST: Simultaneous Translation of Unbounded Speech with Large Language Model</a:t>
            </a:r>
          </a:p>
          <a:p>
            <a:pPr algn="ctr"/>
            <a:r>
              <a:rPr lang="en-US" sz="5880" dirty="0"/>
              <a:t>Siqi Ouyang, Xi Xu, Lei Li</a:t>
            </a:r>
          </a:p>
          <a:p>
            <a:pPr algn="ctr"/>
            <a:r>
              <a:rPr lang="en-US" sz="4800" dirty="0"/>
              <a:t>Carnegie Mellon University, Language Technologies Institute</a:t>
            </a:r>
          </a:p>
          <a:p>
            <a:pPr algn="ctr"/>
            <a:r>
              <a:rPr lang="en-US" sz="4800" dirty="0" err="1"/>
              <a:t>siqiouya@andrew.cmu.edu</a:t>
            </a:r>
            <a:endParaRPr lang="en-US" sz="5880" baseline="300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22D280-416A-07B4-F236-EEDE5CD049F2}"/>
              </a:ext>
            </a:extLst>
          </p:cNvPr>
          <p:cNvCxnSpPr>
            <a:cxnSpLocks/>
          </p:cNvCxnSpPr>
          <p:nvPr/>
        </p:nvCxnSpPr>
        <p:spPr>
          <a:xfrm>
            <a:off x="-28225" y="5343072"/>
            <a:ext cx="3026568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69DF76-C2EC-247A-6B68-370417CCB904}"/>
              </a:ext>
            </a:extLst>
          </p:cNvPr>
          <p:cNvCxnSpPr>
            <a:cxnSpLocks/>
          </p:cNvCxnSpPr>
          <p:nvPr/>
        </p:nvCxnSpPr>
        <p:spPr>
          <a:xfrm>
            <a:off x="-28225" y="12843992"/>
            <a:ext cx="3026568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C1BFAAE-69D3-5381-621B-E05377161567}"/>
              </a:ext>
            </a:extLst>
          </p:cNvPr>
          <p:cNvSpPr txBox="1"/>
          <p:nvPr/>
        </p:nvSpPr>
        <p:spPr>
          <a:xfrm>
            <a:off x="7370394" y="5434512"/>
            <a:ext cx="15524899" cy="15209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5400" b="1" dirty="0"/>
              <a:t>Simultaneous Translation of Unbounded Speech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F4B7A9-5322-BFB2-6720-E78E47796F38}"/>
              </a:ext>
            </a:extLst>
          </p:cNvPr>
          <p:cNvSpPr txBox="1"/>
          <p:nvPr/>
        </p:nvSpPr>
        <p:spPr>
          <a:xfrm>
            <a:off x="17094979" y="7000857"/>
            <a:ext cx="12356873" cy="8844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LLM boosts speech translation quality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FF1BAE-5514-6ACD-93CC-D2D837B53A84}"/>
              </a:ext>
            </a:extLst>
          </p:cNvPr>
          <p:cNvSpPr txBox="1"/>
          <p:nvPr/>
        </p:nvSpPr>
        <p:spPr>
          <a:xfrm>
            <a:off x="5595199" y="12874515"/>
            <a:ext cx="19217619" cy="15209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InfiniSST Overview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4FB3790-3C5D-B184-40A8-CECB7A68F560}"/>
              </a:ext>
            </a:extLst>
          </p:cNvPr>
          <p:cNvCxnSpPr>
            <a:cxnSpLocks/>
          </p:cNvCxnSpPr>
          <p:nvPr/>
        </p:nvCxnSpPr>
        <p:spPr>
          <a:xfrm>
            <a:off x="0" y="27439019"/>
            <a:ext cx="3026568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1F825B1-A0EF-DC30-9518-789A3380C394}"/>
              </a:ext>
            </a:extLst>
          </p:cNvPr>
          <p:cNvSpPr txBox="1"/>
          <p:nvPr/>
        </p:nvSpPr>
        <p:spPr>
          <a:xfrm>
            <a:off x="-1071899" y="27686266"/>
            <a:ext cx="22172491" cy="15209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</a:rPr>
              <a:t>InfiniSST achieves best quality latency trade-off!</a:t>
            </a:r>
          </a:p>
        </p:txBody>
      </p:sp>
      <p:pic>
        <p:nvPicPr>
          <p:cNvPr id="11" name="Picture 10" descr="A black and red logo&#10;&#10;AI-generated content may be incorrect.">
            <a:extLst>
              <a:ext uri="{FF2B5EF4-FFF2-40B4-BE49-F238E27FC236}">
                <a16:creationId xmlns:a16="http://schemas.microsoft.com/office/drawing/2014/main" id="{BAFD3184-1E76-93F2-0357-AC3F3D9BA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444" y="1920304"/>
            <a:ext cx="3649586" cy="2580280"/>
          </a:xfrm>
          <a:prstGeom prst="rect">
            <a:avLst/>
          </a:prstGeom>
        </p:spPr>
      </p:pic>
      <p:sp>
        <p:nvSpPr>
          <p:cNvPr id="1045" name="TextBox 1044">
            <a:extLst>
              <a:ext uri="{FF2B5EF4-FFF2-40B4-BE49-F238E27FC236}">
                <a16:creationId xmlns:a16="http://schemas.microsoft.com/office/drawing/2014/main" id="{9235B67F-ADEF-C7B7-F3E9-891A5C97D274}"/>
              </a:ext>
            </a:extLst>
          </p:cNvPr>
          <p:cNvSpPr txBox="1"/>
          <p:nvPr/>
        </p:nvSpPr>
        <p:spPr>
          <a:xfrm>
            <a:off x="2004635" y="10178949"/>
            <a:ext cx="55130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rgbClr val="00B050"/>
                </a:solidFill>
              </a:rPr>
              <a:t>猫</a:t>
            </a:r>
            <a:r>
              <a:rPr lang="zh-CN" altLang="en-US" sz="4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在</a:t>
            </a:r>
            <a:r>
              <a:rPr lang="en-US" altLang="zh-CN" sz="4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                 </a:t>
            </a:r>
            <a:r>
              <a:rPr lang="zh-CN" altLang="en-US" sz="4800" dirty="0">
                <a:solidFill>
                  <a:srgbClr val="FF0000"/>
                </a:solidFill>
              </a:rPr>
              <a:t>垫子</a:t>
            </a:r>
            <a:r>
              <a:rPr lang="zh-CN" altLang="en-US" sz="4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上</a:t>
            </a:r>
          </a:p>
        </p:txBody>
      </p:sp>
      <p:sp>
        <p:nvSpPr>
          <p:cNvPr id="1057" name="Rounded Rectangle 1056">
            <a:extLst>
              <a:ext uri="{FF2B5EF4-FFF2-40B4-BE49-F238E27FC236}">
                <a16:creationId xmlns:a16="http://schemas.microsoft.com/office/drawing/2014/main" id="{F26AC313-2EEC-E307-0462-289765AED868}"/>
              </a:ext>
            </a:extLst>
          </p:cNvPr>
          <p:cNvSpPr/>
          <p:nvPr/>
        </p:nvSpPr>
        <p:spPr>
          <a:xfrm>
            <a:off x="662570" y="9106469"/>
            <a:ext cx="13664371" cy="898145"/>
          </a:xfrm>
          <a:prstGeom prst="roundRect">
            <a:avLst>
              <a:gd name="adj" fmla="val 39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800" dirty="0"/>
              <a:t>Simultaneous Speech-to-Text Translation System</a:t>
            </a:r>
          </a:p>
        </p:txBody>
      </p:sp>
      <p:pic>
        <p:nvPicPr>
          <p:cNvPr id="1073" name="Graphic 1072" descr="Voice outline">
            <a:extLst>
              <a:ext uri="{FF2B5EF4-FFF2-40B4-BE49-F238E27FC236}">
                <a16:creationId xmlns:a16="http://schemas.microsoft.com/office/drawing/2014/main" id="{F4536289-BCF0-6850-DD2F-2319341298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2570" y="7939245"/>
            <a:ext cx="1261611" cy="1261611"/>
          </a:xfrm>
          <a:prstGeom prst="rect">
            <a:avLst/>
          </a:prstGeom>
        </p:spPr>
      </p:pic>
      <p:pic>
        <p:nvPicPr>
          <p:cNvPr id="1075" name="Graphic 1074" descr="Voice outline">
            <a:extLst>
              <a:ext uri="{FF2B5EF4-FFF2-40B4-BE49-F238E27FC236}">
                <a16:creationId xmlns:a16="http://schemas.microsoft.com/office/drawing/2014/main" id="{6A5D4FD3-8CA1-9DB4-EDAE-9DC6A9A04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4181" y="7926139"/>
            <a:ext cx="1261611" cy="1261611"/>
          </a:xfrm>
          <a:prstGeom prst="rect">
            <a:avLst/>
          </a:prstGeom>
        </p:spPr>
      </p:pic>
      <p:pic>
        <p:nvPicPr>
          <p:cNvPr id="1076" name="Graphic 1075" descr="Voice outline">
            <a:extLst>
              <a:ext uri="{FF2B5EF4-FFF2-40B4-BE49-F238E27FC236}">
                <a16:creationId xmlns:a16="http://schemas.microsoft.com/office/drawing/2014/main" id="{46344CA0-690A-DB4D-1EC5-040351B04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5792" y="7932692"/>
            <a:ext cx="1261611" cy="1261611"/>
          </a:xfrm>
          <a:prstGeom prst="rect">
            <a:avLst/>
          </a:prstGeom>
        </p:spPr>
      </p:pic>
      <p:pic>
        <p:nvPicPr>
          <p:cNvPr id="1077" name="Graphic 1076" descr="Voice outline">
            <a:extLst>
              <a:ext uri="{FF2B5EF4-FFF2-40B4-BE49-F238E27FC236}">
                <a16:creationId xmlns:a16="http://schemas.microsoft.com/office/drawing/2014/main" id="{7A7B56DC-E7E6-5AEE-A41F-AC0C9B562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47403" y="7932691"/>
            <a:ext cx="1261611" cy="1261611"/>
          </a:xfrm>
          <a:prstGeom prst="rect">
            <a:avLst/>
          </a:prstGeom>
        </p:spPr>
      </p:pic>
      <p:pic>
        <p:nvPicPr>
          <p:cNvPr id="1078" name="Graphic 1077" descr="Voice outline">
            <a:extLst>
              <a:ext uri="{FF2B5EF4-FFF2-40B4-BE49-F238E27FC236}">
                <a16:creationId xmlns:a16="http://schemas.microsoft.com/office/drawing/2014/main" id="{F07A2BAD-B7EA-110D-1280-FCCB63A25A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2844" y="7932690"/>
            <a:ext cx="1261611" cy="1261611"/>
          </a:xfrm>
          <a:prstGeom prst="rect">
            <a:avLst/>
          </a:prstGeom>
        </p:spPr>
      </p:pic>
      <p:pic>
        <p:nvPicPr>
          <p:cNvPr id="1081" name="Graphic 1080" descr="Voice outline">
            <a:extLst>
              <a:ext uri="{FF2B5EF4-FFF2-40B4-BE49-F238E27FC236}">
                <a16:creationId xmlns:a16="http://schemas.microsoft.com/office/drawing/2014/main" id="{9EEE9A2E-E7B2-16FE-FAFD-904FBD3D3A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8285" y="7939244"/>
            <a:ext cx="1261611" cy="1261611"/>
          </a:xfrm>
          <a:prstGeom prst="rect">
            <a:avLst/>
          </a:prstGeom>
        </p:spPr>
      </p:pic>
      <p:sp>
        <p:nvSpPr>
          <p:cNvPr id="1088" name="Oval 1087">
            <a:extLst>
              <a:ext uri="{FF2B5EF4-FFF2-40B4-BE49-F238E27FC236}">
                <a16:creationId xmlns:a16="http://schemas.microsoft.com/office/drawing/2014/main" id="{C7978743-2C54-FB48-38A9-97A6DE93CB0E}"/>
              </a:ext>
            </a:extLst>
          </p:cNvPr>
          <p:cNvSpPr>
            <a:spLocks noChangeAspect="1"/>
          </p:cNvSpPr>
          <p:nvPr/>
        </p:nvSpPr>
        <p:spPr>
          <a:xfrm>
            <a:off x="8516327" y="84854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89" name="Oval 1088">
            <a:extLst>
              <a:ext uri="{FF2B5EF4-FFF2-40B4-BE49-F238E27FC236}">
                <a16:creationId xmlns:a16="http://schemas.microsoft.com/office/drawing/2014/main" id="{C05885A8-B882-A9C1-3721-70C928C2CDE5}"/>
              </a:ext>
            </a:extLst>
          </p:cNvPr>
          <p:cNvSpPr>
            <a:spLocks noChangeAspect="1"/>
          </p:cNvSpPr>
          <p:nvPr/>
        </p:nvSpPr>
        <p:spPr>
          <a:xfrm>
            <a:off x="8952758" y="84854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0" name="Oval 1089">
            <a:extLst>
              <a:ext uri="{FF2B5EF4-FFF2-40B4-BE49-F238E27FC236}">
                <a16:creationId xmlns:a16="http://schemas.microsoft.com/office/drawing/2014/main" id="{1F2BD854-C683-9D51-D9BB-5C7AA8E5F0A6}"/>
              </a:ext>
            </a:extLst>
          </p:cNvPr>
          <p:cNvSpPr>
            <a:spLocks noChangeAspect="1"/>
          </p:cNvSpPr>
          <p:nvPr/>
        </p:nvSpPr>
        <p:spPr>
          <a:xfrm>
            <a:off x="9389189" y="84854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1" name="Oval 1090">
            <a:extLst>
              <a:ext uri="{FF2B5EF4-FFF2-40B4-BE49-F238E27FC236}">
                <a16:creationId xmlns:a16="http://schemas.microsoft.com/office/drawing/2014/main" id="{CD9160EB-B5F9-4E0E-69E2-E1C5AF5E5BC4}"/>
              </a:ext>
            </a:extLst>
          </p:cNvPr>
          <p:cNvSpPr>
            <a:spLocks noChangeAspect="1"/>
          </p:cNvSpPr>
          <p:nvPr/>
        </p:nvSpPr>
        <p:spPr>
          <a:xfrm>
            <a:off x="9858246" y="849056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2" name="Oval 1091">
            <a:extLst>
              <a:ext uri="{FF2B5EF4-FFF2-40B4-BE49-F238E27FC236}">
                <a16:creationId xmlns:a16="http://schemas.microsoft.com/office/drawing/2014/main" id="{EE5CA7D9-6E66-6A80-F9C4-44954B46F346}"/>
              </a:ext>
            </a:extLst>
          </p:cNvPr>
          <p:cNvSpPr>
            <a:spLocks noChangeAspect="1"/>
          </p:cNvSpPr>
          <p:nvPr/>
        </p:nvSpPr>
        <p:spPr>
          <a:xfrm>
            <a:off x="10294677" y="849056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3" name="Oval 1092">
            <a:extLst>
              <a:ext uri="{FF2B5EF4-FFF2-40B4-BE49-F238E27FC236}">
                <a16:creationId xmlns:a16="http://schemas.microsoft.com/office/drawing/2014/main" id="{0A46A140-2B0C-78BE-8F67-AE8346DF288A}"/>
              </a:ext>
            </a:extLst>
          </p:cNvPr>
          <p:cNvSpPr>
            <a:spLocks noChangeAspect="1"/>
          </p:cNvSpPr>
          <p:nvPr/>
        </p:nvSpPr>
        <p:spPr>
          <a:xfrm>
            <a:off x="10731108" y="849056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114632C2-6740-037A-8165-4C2FB29658B6}"/>
              </a:ext>
            </a:extLst>
          </p:cNvPr>
          <p:cNvSpPr>
            <a:spLocks noChangeAspect="1"/>
          </p:cNvSpPr>
          <p:nvPr/>
        </p:nvSpPr>
        <p:spPr>
          <a:xfrm>
            <a:off x="11167539" y="849056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2A74E292-EDA4-2507-3F3F-4C9934D73156}"/>
              </a:ext>
            </a:extLst>
          </p:cNvPr>
          <p:cNvSpPr>
            <a:spLocks noChangeAspect="1"/>
          </p:cNvSpPr>
          <p:nvPr/>
        </p:nvSpPr>
        <p:spPr>
          <a:xfrm>
            <a:off x="11603970" y="849056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6" name="Oval 1095">
            <a:extLst>
              <a:ext uri="{FF2B5EF4-FFF2-40B4-BE49-F238E27FC236}">
                <a16:creationId xmlns:a16="http://schemas.microsoft.com/office/drawing/2014/main" id="{C5513749-0A1D-49BD-8D28-138BF6D578BB}"/>
              </a:ext>
            </a:extLst>
          </p:cNvPr>
          <p:cNvSpPr>
            <a:spLocks noChangeAspect="1"/>
          </p:cNvSpPr>
          <p:nvPr/>
        </p:nvSpPr>
        <p:spPr>
          <a:xfrm>
            <a:off x="12040401" y="849056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7" name="Oval 1096">
            <a:extLst>
              <a:ext uri="{FF2B5EF4-FFF2-40B4-BE49-F238E27FC236}">
                <a16:creationId xmlns:a16="http://schemas.microsoft.com/office/drawing/2014/main" id="{878EC82F-D208-02A8-2FC5-4F7779384B3D}"/>
              </a:ext>
            </a:extLst>
          </p:cNvPr>
          <p:cNvSpPr>
            <a:spLocks noChangeAspect="1"/>
          </p:cNvSpPr>
          <p:nvPr/>
        </p:nvSpPr>
        <p:spPr>
          <a:xfrm>
            <a:off x="12476832" y="84854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8" name="Oval 1097">
            <a:extLst>
              <a:ext uri="{FF2B5EF4-FFF2-40B4-BE49-F238E27FC236}">
                <a16:creationId xmlns:a16="http://schemas.microsoft.com/office/drawing/2014/main" id="{1C195937-7A8A-4674-2CB3-CF18F4E0E34A}"/>
              </a:ext>
            </a:extLst>
          </p:cNvPr>
          <p:cNvSpPr>
            <a:spLocks noChangeAspect="1"/>
          </p:cNvSpPr>
          <p:nvPr/>
        </p:nvSpPr>
        <p:spPr>
          <a:xfrm>
            <a:off x="12913263" y="84854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99" name="Oval 1098">
            <a:extLst>
              <a:ext uri="{FF2B5EF4-FFF2-40B4-BE49-F238E27FC236}">
                <a16:creationId xmlns:a16="http://schemas.microsoft.com/office/drawing/2014/main" id="{0E3204A0-BD7E-4B0D-860C-ABDBF04D8A62}"/>
              </a:ext>
            </a:extLst>
          </p:cNvPr>
          <p:cNvSpPr>
            <a:spLocks noChangeAspect="1"/>
          </p:cNvSpPr>
          <p:nvPr/>
        </p:nvSpPr>
        <p:spPr>
          <a:xfrm>
            <a:off x="13349694" y="84854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0" name="Oval 1099">
            <a:extLst>
              <a:ext uri="{FF2B5EF4-FFF2-40B4-BE49-F238E27FC236}">
                <a16:creationId xmlns:a16="http://schemas.microsoft.com/office/drawing/2014/main" id="{5C3931EF-31BF-E117-4353-58AEE09E048D}"/>
              </a:ext>
            </a:extLst>
          </p:cNvPr>
          <p:cNvSpPr>
            <a:spLocks noChangeAspect="1"/>
          </p:cNvSpPr>
          <p:nvPr/>
        </p:nvSpPr>
        <p:spPr>
          <a:xfrm>
            <a:off x="8516327" y="1052282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1" name="Oval 1100">
            <a:extLst>
              <a:ext uri="{FF2B5EF4-FFF2-40B4-BE49-F238E27FC236}">
                <a16:creationId xmlns:a16="http://schemas.microsoft.com/office/drawing/2014/main" id="{6AC75A44-0EB8-80B1-735D-C4E524503B89}"/>
              </a:ext>
            </a:extLst>
          </p:cNvPr>
          <p:cNvSpPr>
            <a:spLocks noChangeAspect="1"/>
          </p:cNvSpPr>
          <p:nvPr/>
        </p:nvSpPr>
        <p:spPr>
          <a:xfrm>
            <a:off x="8952758" y="1052282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2" name="Oval 1101">
            <a:extLst>
              <a:ext uri="{FF2B5EF4-FFF2-40B4-BE49-F238E27FC236}">
                <a16:creationId xmlns:a16="http://schemas.microsoft.com/office/drawing/2014/main" id="{E3CCE30A-31AF-5CF4-986F-979A7C2C48EE}"/>
              </a:ext>
            </a:extLst>
          </p:cNvPr>
          <p:cNvSpPr>
            <a:spLocks noChangeAspect="1"/>
          </p:cNvSpPr>
          <p:nvPr/>
        </p:nvSpPr>
        <p:spPr>
          <a:xfrm>
            <a:off x="9389189" y="1052282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3" name="Oval 1102">
            <a:extLst>
              <a:ext uri="{FF2B5EF4-FFF2-40B4-BE49-F238E27FC236}">
                <a16:creationId xmlns:a16="http://schemas.microsoft.com/office/drawing/2014/main" id="{EC6D82E5-44A3-7B3A-39AC-3C718D8F85DE}"/>
              </a:ext>
            </a:extLst>
          </p:cNvPr>
          <p:cNvSpPr>
            <a:spLocks noChangeAspect="1"/>
          </p:cNvSpPr>
          <p:nvPr/>
        </p:nvSpPr>
        <p:spPr>
          <a:xfrm>
            <a:off x="9858246" y="105279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4" name="Oval 1103">
            <a:extLst>
              <a:ext uri="{FF2B5EF4-FFF2-40B4-BE49-F238E27FC236}">
                <a16:creationId xmlns:a16="http://schemas.microsoft.com/office/drawing/2014/main" id="{0BB8D772-19AB-BD66-B164-425E8605F046}"/>
              </a:ext>
            </a:extLst>
          </p:cNvPr>
          <p:cNvSpPr>
            <a:spLocks noChangeAspect="1"/>
          </p:cNvSpPr>
          <p:nvPr/>
        </p:nvSpPr>
        <p:spPr>
          <a:xfrm>
            <a:off x="10294677" y="105279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5" name="Oval 1104">
            <a:extLst>
              <a:ext uri="{FF2B5EF4-FFF2-40B4-BE49-F238E27FC236}">
                <a16:creationId xmlns:a16="http://schemas.microsoft.com/office/drawing/2014/main" id="{04E6BA68-C436-6076-2C57-C75B69DB5B0A}"/>
              </a:ext>
            </a:extLst>
          </p:cNvPr>
          <p:cNvSpPr>
            <a:spLocks noChangeAspect="1"/>
          </p:cNvSpPr>
          <p:nvPr/>
        </p:nvSpPr>
        <p:spPr>
          <a:xfrm>
            <a:off x="10731108" y="105279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6" name="Oval 1105">
            <a:extLst>
              <a:ext uri="{FF2B5EF4-FFF2-40B4-BE49-F238E27FC236}">
                <a16:creationId xmlns:a16="http://schemas.microsoft.com/office/drawing/2014/main" id="{98987D60-2801-9472-45F0-CE1E1E6F4F79}"/>
              </a:ext>
            </a:extLst>
          </p:cNvPr>
          <p:cNvSpPr>
            <a:spLocks noChangeAspect="1"/>
          </p:cNvSpPr>
          <p:nvPr/>
        </p:nvSpPr>
        <p:spPr>
          <a:xfrm>
            <a:off x="11167539" y="105279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7" name="Oval 1106">
            <a:extLst>
              <a:ext uri="{FF2B5EF4-FFF2-40B4-BE49-F238E27FC236}">
                <a16:creationId xmlns:a16="http://schemas.microsoft.com/office/drawing/2014/main" id="{03D050A3-40A6-50B0-2D14-FFFF423B614E}"/>
              </a:ext>
            </a:extLst>
          </p:cNvPr>
          <p:cNvSpPr>
            <a:spLocks noChangeAspect="1"/>
          </p:cNvSpPr>
          <p:nvPr/>
        </p:nvSpPr>
        <p:spPr>
          <a:xfrm>
            <a:off x="11603970" y="105279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8" name="Oval 1107">
            <a:extLst>
              <a:ext uri="{FF2B5EF4-FFF2-40B4-BE49-F238E27FC236}">
                <a16:creationId xmlns:a16="http://schemas.microsoft.com/office/drawing/2014/main" id="{F1A0B997-4587-F7EC-3B97-F4823A8CC77A}"/>
              </a:ext>
            </a:extLst>
          </p:cNvPr>
          <p:cNvSpPr>
            <a:spLocks noChangeAspect="1"/>
          </p:cNvSpPr>
          <p:nvPr/>
        </p:nvSpPr>
        <p:spPr>
          <a:xfrm>
            <a:off x="12040401" y="1052794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EBAEA4C7-90C6-7D8E-DDB7-BF2DDC9BAA1E}"/>
              </a:ext>
            </a:extLst>
          </p:cNvPr>
          <p:cNvSpPr>
            <a:spLocks noChangeAspect="1"/>
          </p:cNvSpPr>
          <p:nvPr/>
        </p:nvSpPr>
        <p:spPr>
          <a:xfrm>
            <a:off x="12476832" y="1052282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0" name="Oval 1109">
            <a:extLst>
              <a:ext uri="{FF2B5EF4-FFF2-40B4-BE49-F238E27FC236}">
                <a16:creationId xmlns:a16="http://schemas.microsoft.com/office/drawing/2014/main" id="{C622DDB6-F767-C3F0-F660-00D810A0EFA7}"/>
              </a:ext>
            </a:extLst>
          </p:cNvPr>
          <p:cNvSpPr>
            <a:spLocks noChangeAspect="1"/>
          </p:cNvSpPr>
          <p:nvPr/>
        </p:nvSpPr>
        <p:spPr>
          <a:xfrm>
            <a:off x="12913263" y="1052282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1" name="Oval 1110">
            <a:extLst>
              <a:ext uri="{FF2B5EF4-FFF2-40B4-BE49-F238E27FC236}">
                <a16:creationId xmlns:a16="http://schemas.microsoft.com/office/drawing/2014/main" id="{D4BF2B6C-378E-ED34-342B-18F08155EDD1}"/>
              </a:ext>
            </a:extLst>
          </p:cNvPr>
          <p:cNvSpPr>
            <a:spLocks noChangeAspect="1"/>
          </p:cNvSpPr>
          <p:nvPr/>
        </p:nvSpPr>
        <p:spPr>
          <a:xfrm>
            <a:off x="13349694" y="10522824"/>
            <a:ext cx="156101" cy="15610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3" name="Right Bracket 1112">
            <a:extLst>
              <a:ext uri="{FF2B5EF4-FFF2-40B4-BE49-F238E27FC236}">
                <a16:creationId xmlns:a16="http://schemas.microsoft.com/office/drawing/2014/main" id="{B0CCFD4B-BFDC-4950-EE65-92ED70A59BD7}"/>
              </a:ext>
            </a:extLst>
          </p:cNvPr>
          <p:cNvSpPr/>
          <p:nvPr/>
        </p:nvSpPr>
        <p:spPr>
          <a:xfrm rot="16200000">
            <a:off x="7324710" y="1089977"/>
            <a:ext cx="340093" cy="13664372"/>
          </a:xfrm>
          <a:prstGeom prst="rightBracket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D87F3616-C172-D0AA-5A7B-B61E2C1D8E06}"/>
              </a:ext>
            </a:extLst>
          </p:cNvPr>
          <p:cNvSpPr txBox="1"/>
          <p:nvPr/>
        </p:nvSpPr>
        <p:spPr>
          <a:xfrm>
            <a:off x="2320261" y="6759395"/>
            <a:ext cx="10100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accent1"/>
                </a:solidFill>
              </a:rPr>
              <a:t>Infinitely long streaming speech input</a:t>
            </a:r>
            <a:endParaRPr lang="zh-CN" altLang="en-US" sz="4800" dirty="0">
              <a:solidFill>
                <a:schemeClr val="accent1"/>
              </a:solidFill>
            </a:endParaRPr>
          </a:p>
        </p:txBody>
      </p:sp>
      <p:sp>
        <p:nvSpPr>
          <p:cNvPr id="1115" name="Right Bracket 1114">
            <a:extLst>
              <a:ext uri="{FF2B5EF4-FFF2-40B4-BE49-F238E27FC236}">
                <a16:creationId xmlns:a16="http://schemas.microsoft.com/office/drawing/2014/main" id="{E96E413C-F0C6-1112-3F68-220D65F7B910}"/>
              </a:ext>
            </a:extLst>
          </p:cNvPr>
          <p:cNvSpPr/>
          <p:nvPr/>
        </p:nvSpPr>
        <p:spPr>
          <a:xfrm rot="5400000">
            <a:off x="7324709" y="4352095"/>
            <a:ext cx="340093" cy="13664372"/>
          </a:xfrm>
          <a:prstGeom prst="rightBracket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399EE032-5053-058D-2622-8015155E10A0}"/>
              </a:ext>
            </a:extLst>
          </p:cNvPr>
          <p:cNvSpPr txBox="1"/>
          <p:nvPr/>
        </p:nvSpPr>
        <p:spPr>
          <a:xfrm>
            <a:off x="1127183" y="11419495"/>
            <a:ext cx="130310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chemeClr val="accent1"/>
                </a:solidFill>
              </a:rPr>
              <a:t>Translation appears while receiving speech input</a:t>
            </a:r>
            <a:endParaRPr lang="zh-CN" altLang="en-US" sz="4800" dirty="0">
              <a:solidFill>
                <a:schemeClr val="accent1"/>
              </a:solidFill>
            </a:endParaRPr>
          </a:p>
        </p:txBody>
      </p:sp>
      <p:pic>
        <p:nvPicPr>
          <p:cNvPr id="1120" name="Graphic 1119" descr="Checkmark with solid fill">
            <a:extLst>
              <a:ext uri="{FF2B5EF4-FFF2-40B4-BE49-F238E27FC236}">
                <a16:creationId xmlns:a16="http://schemas.microsoft.com/office/drawing/2014/main" id="{E003D08B-D117-A879-63C8-295A42AD4D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38747" y="6962940"/>
            <a:ext cx="914400" cy="914400"/>
          </a:xfrm>
          <a:prstGeom prst="rect">
            <a:avLst/>
          </a:prstGeom>
        </p:spPr>
      </p:pic>
      <p:sp>
        <p:nvSpPr>
          <p:cNvPr id="1121" name="TextBox 1120">
            <a:extLst>
              <a:ext uri="{FF2B5EF4-FFF2-40B4-BE49-F238E27FC236}">
                <a16:creationId xmlns:a16="http://schemas.microsoft.com/office/drawing/2014/main" id="{8B8B1D4C-3EA4-4902-05C6-FF43A7D829AC}"/>
              </a:ext>
            </a:extLst>
          </p:cNvPr>
          <p:cNvSpPr txBox="1"/>
          <p:nvPr/>
        </p:nvSpPr>
        <p:spPr>
          <a:xfrm>
            <a:off x="17094979" y="7953783"/>
            <a:ext cx="12356873" cy="8844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sz="5400" b="1" dirty="0">
                <a:solidFill>
                  <a:schemeClr val="accent6">
                    <a:lumMod val="75000"/>
                  </a:schemeClr>
                </a:solidFill>
              </a:rPr>
              <a:t>LLM generalizes well to long context</a:t>
            </a:r>
          </a:p>
        </p:txBody>
      </p:sp>
      <p:pic>
        <p:nvPicPr>
          <p:cNvPr id="1122" name="Graphic 1121" descr="Checkmark with solid fill">
            <a:extLst>
              <a:ext uri="{FF2B5EF4-FFF2-40B4-BE49-F238E27FC236}">
                <a16:creationId xmlns:a16="http://schemas.microsoft.com/office/drawing/2014/main" id="{ABBCA44B-D6EA-2A0A-5B33-14A1EFC80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938747" y="7945126"/>
            <a:ext cx="914400" cy="914400"/>
          </a:xfrm>
          <a:prstGeom prst="rect">
            <a:avLst/>
          </a:prstGeom>
        </p:spPr>
      </p:pic>
      <p:pic>
        <p:nvPicPr>
          <p:cNvPr id="1124" name="Graphic 1123" descr="Close with solid fill">
            <a:extLst>
              <a:ext uri="{FF2B5EF4-FFF2-40B4-BE49-F238E27FC236}">
                <a16:creationId xmlns:a16="http://schemas.microsoft.com/office/drawing/2014/main" id="{5BC6B267-209A-2502-E703-CA5E059005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938747" y="8909804"/>
            <a:ext cx="914400" cy="914400"/>
          </a:xfrm>
          <a:prstGeom prst="rect">
            <a:avLst/>
          </a:prstGeom>
        </p:spPr>
      </p:pic>
      <p:sp>
        <p:nvSpPr>
          <p:cNvPr id="1125" name="TextBox 1124">
            <a:extLst>
              <a:ext uri="{FF2B5EF4-FFF2-40B4-BE49-F238E27FC236}">
                <a16:creationId xmlns:a16="http://schemas.microsoft.com/office/drawing/2014/main" id="{B35750F4-FA58-AEA1-02FA-D70A2A5BBDA8}"/>
              </a:ext>
            </a:extLst>
          </p:cNvPr>
          <p:cNvSpPr txBox="1"/>
          <p:nvPr/>
        </p:nvSpPr>
        <p:spPr>
          <a:xfrm>
            <a:off x="17094979" y="8935101"/>
            <a:ext cx="12356873" cy="8844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sz="5400" b="1" dirty="0">
                <a:solidFill>
                  <a:srgbClr val="FF0000"/>
                </a:solidFill>
              </a:rPr>
              <a:t>LLM is computationally costly</a:t>
            </a:r>
          </a:p>
        </p:txBody>
      </p:sp>
      <p:sp>
        <p:nvSpPr>
          <p:cNvPr id="1126" name="Rounded Rectangle 1125">
            <a:extLst>
              <a:ext uri="{FF2B5EF4-FFF2-40B4-BE49-F238E27FC236}">
                <a16:creationId xmlns:a16="http://schemas.microsoft.com/office/drawing/2014/main" id="{1B798A1B-C736-1A1E-0A02-7D9C9FEA2791}"/>
              </a:ext>
            </a:extLst>
          </p:cNvPr>
          <p:cNvSpPr/>
          <p:nvPr/>
        </p:nvSpPr>
        <p:spPr>
          <a:xfrm>
            <a:off x="15938747" y="10178949"/>
            <a:ext cx="13664372" cy="2071543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800" b="1" dirty="0"/>
              <a:t>InfiniSST addresses SST with LLM efficiently!</a:t>
            </a:r>
          </a:p>
        </p:txBody>
      </p:sp>
      <p:sp>
        <p:nvSpPr>
          <p:cNvPr id="1242" name="Rounded Rectangle 1241">
            <a:extLst>
              <a:ext uri="{FF2B5EF4-FFF2-40B4-BE49-F238E27FC236}">
                <a16:creationId xmlns:a16="http://schemas.microsoft.com/office/drawing/2014/main" id="{B35A8624-78E2-EF29-20D4-A2E1A8D03F43}"/>
              </a:ext>
            </a:extLst>
          </p:cNvPr>
          <p:cNvSpPr/>
          <p:nvPr/>
        </p:nvSpPr>
        <p:spPr>
          <a:xfrm>
            <a:off x="3017067" y="15187220"/>
            <a:ext cx="25367771" cy="1772781"/>
          </a:xfrm>
          <a:prstGeom prst="roundRect">
            <a:avLst/>
          </a:prstGeom>
          <a:ln w="762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N" sz="4800" dirty="0">
                <a:cs typeface="Times New Roman" panose="02020603050405020304" pitchFamily="18" charset="0"/>
              </a:rPr>
              <a:t>Large Language Model</a:t>
            </a:r>
          </a:p>
        </p:txBody>
      </p:sp>
      <p:sp>
        <p:nvSpPr>
          <p:cNvPr id="1243" name="TextBox 1242">
            <a:extLst>
              <a:ext uri="{FF2B5EF4-FFF2-40B4-BE49-F238E27FC236}">
                <a16:creationId xmlns:a16="http://schemas.microsoft.com/office/drawing/2014/main" id="{9342852E-5CFF-7F16-CF21-F3E29ACF7753}"/>
              </a:ext>
            </a:extLst>
          </p:cNvPr>
          <p:cNvSpPr txBox="1"/>
          <p:nvPr/>
        </p:nvSpPr>
        <p:spPr>
          <a:xfrm>
            <a:off x="3027815" y="17248256"/>
            <a:ext cx="2707365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Instruction</a:t>
            </a:r>
          </a:p>
        </p:txBody>
      </p:sp>
      <p:sp>
        <p:nvSpPr>
          <p:cNvPr id="1244" name="TextBox 1243">
            <a:extLst>
              <a:ext uri="{FF2B5EF4-FFF2-40B4-BE49-F238E27FC236}">
                <a16:creationId xmlns:a16="http://schemas.microsoft.com/office/drawing/2014/main" id="{23FA5BFD-7D82-C877-D5FE-75F271023CAA}"/>
              </a:ext>
            </a:extLst>
          </p:cNvPr>
          <p:cNvSpPr txBox="1"/>
          <p:nvPr/>
        </p:nvSpPr>
        <p:spPr>
          <a:xfrm>
            <a:off x="12674669" y="17259844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猫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2" name="Rectangle 1251">
            <a:extLst>
              <a:ext uri="{FF2B5EF4-FFF2-40B4-BE49-F238E27FC236}">
                <a16:creationId xmlns:a16="http://schemas.microsoft.com/office/drawing/2014/main" id="{CD00EA8D-FF3A-A6B4-9784-39687A610C0D}"/>
              </a:ext>
            </a:extLst>
          </p:cNvPr>
          <p:cNvSpPr/>
          <p:nvPr/>
        </p:nvSpPr>
        <p:spPr>
          <a:xfrm>
            <a:off x="7451178" y="17244457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1</a:t>
            </a:r>
          </a:p>
        </p:txBody>
      </p:sp>
      <p:sp>
        <p:nvSpPr>
          <p:cNvPr id="1253" name="TextBox 1252">
            <a:extLst>
              <a:ext uri="{FF2B5EF4-FFF2-40B4-BE49-F238E27FC236}">
                <a16:creationId xmlns:a16="http://schemas.microsoft.com/office/drawing/2014/main" id="{3192C0F2-0D3E-7CFB-BB92-97C8938AEA81}"/>
              </a:ext>
            </a:extLst>
          </p:cNvPr>
          <p:cNvSpPr txBox="1"/>
          <p:nvPr/>
        </p:nvSpPr>
        <p:spPr>
          <a:xfrm>
            <a:off x="5867943" y="17248256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1254" name="TextBox 1253">
            <a:extLst>
              <a:ext uri="{FF2B5EF4-FFF2-40B4-BE49-F238E27FC236}">
                <a16:creationId xmlns:a16="http://schemas.microsoft.com/office/drawing/2014/main" id="{317EEF36-CB8C-C95F-3117-A517C2793D11}"/>
              </a:ext>
            </a:extLst>
          </p:cNvPr>
          <p:cNvSpPr txBox="1"/>
          <p:nvPr/>
        </p:nvSpPr>
        <p:spPr>
          <a:xfrm>
            <a:off x="8256694" y="17244457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EOS</a:t>
            </a:r>
          </a:p>
        </p:txBody>
      </p:sp>
      <p:sp>
        <p:nvSpPr>
          <p:cNvPr id="1255" name="TextBox 1254">
            <a:extLst>
              <a:ext uri="{FF2B5EF4-FFF2-40B4-BE49-F238E27FC236}">
                <a16:creationId xmlns:a16="http://schemas.microsoft.com/office/drawing/2014/main" id="{6A781078-65B1-0F5A-FB58-F97D875451DC}"/>
              </a:ext>
            </a:extLst>
          </p:cNvPr>
          <p:cNvSpPr txBox="1"/>
          <p:nvPr/>
        </p:nvSpPr>
        <p:spPr>
          <a:xfrm>
            <a:off x="9808680" y="17244455"/>
            <a:ext cx="270736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Assistant</a:t>
            </a:r>
          </a:p>
        </p:txBody>
      </p:sp>
      <p:sp>
        <p:nvSpPr>
          <p:cNvPr id="1271" name="TextBox 1270">
            <a:extLst>
              <a:ext uri="{FF2B5EF4-FFF2-40B4-BE49-F238E27FC236}">
                <a16:creationId xmlns:a16="http://schemas.microsoft.com/office/drawing/2014/main" id="{2E5C1F5E-3B1B-BE49-75F7-A9F7647E77B1}"/>
              </a:ext>
            </a:extLst>
          </p:cNvPr>
          <p:cNvSpPr txBox="1"/>
          <p:nvPr/>
        </p:nvSpPr>
        <p:spPr>
          <a:xfrm>
            <a:off x="13780023" y="17259844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在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2" name="TextBox 1271">
            <a:extLst>
              <a:ext uri="{FF2B5EF4-FFF2-40B4-BE49-F238E27FC236}">
                <a16:creationId xmlns:a16="http://schemas.microsoft.com/office/drawing/2014/main" id="{30708018-D33C-834A-A812-79BA2F2E321C}"/>
              </a:ext>
            </a:extLst>
          </p:cNvPr>
          <p:cNvSpPr txBox="1"/>
          <p:nvPr/>
        </p:nvSpPr>
        <p:spPr>
          <a:xfrm>
            <a:off x="14870827" y="17259844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EOS</a:t>
            </a:r>
          </a:p>
        </p:txBody>
      </p:sp>
      <p:sp>
        <p:nvSpPr>
          <p:cNvPr id="1273" name="TextBox 1272">
            <a:extLst>
              <a:ext uri="{FF2B5EF4-FFF2-40B4-BE49-F238E27FC236}">
                <a16:creationId xmlns:a16="http://schemas.microsoft.com/office/drawing/2014/main" id="{DE83331B-2F5F-2159-4E89-C9C913770F85}"/>
              </a:ext>
            </a:extLst>
          </p:cNvPr>
          <p:cNvSpPr txBox="1"/>
          <p:nvPr/>
        </p:nvSpPr>
        <p:spPr>
          <a:xfrm>
            <a:off x="16439079" y="17259844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User</a:t>
            </a:r>
          </a:p>
        </p:txBody>
      </p:sp>
      <p:sp>
        <p:nvSpPr>
          <p:cNvPr id="1274" name="Rectangle 1273">
            <a:extLst>
              <a:ext uri="{FF2B5EF4-FFF2-40B4-BE49-F238E27FC236}">
                <a16:creationId xmlns:a16="http://schemas.microsoft.com/office/drawing/2014/main" id="{E7C0F992-2D58-7117-C596-ACBFADEF951F}"/>
              </a:ext>
            </a:extLst>
          </p:cNvPr>
          <p:cNvSpPr/>
          <p:nvPr/>
        </p:nvSpPr>
        <p:spPr>
          <a:xfrm>
            <a:off x="18072998" y="17259847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2</a:t>
            </a:r>
            <a:endParaRPr lang="en-CN" sz="4000" dirty="0"/>
          </a:p>
        </p:txBody>
      </p:sp>
      <p:sp>
        <p:nvSpPr>
          <p:cNvPr id="1275" name="TextBox 1274">
            <a:extLst>
              <a:ext uri="{FF2B5EF4-FFF2-40B4-BE49-F238E27FC236}">
                <a16:creationId xmlns:a16="http://schemas.microsoft.com/office/drawing/2014/main" id="{AF2DA162-9D40-DBC9-5794-8E355B2BAD84}"/>
              </a:ext>
            </a:extLst>
          </p:cNvPr>
          <p:cNvSpPr txBox="1"/>
          <p:nvPr/>
        </p:nvSpPr>
        <p:spPr>
          <a:xfrm>
            <a:off x="18935743" y="17259844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EOS</a:t>
            </a:r>
          </a:p>
        </p:txBody>
      </p:sp>
      <p:sp>
        <p:nvSpPr>
          <p:cNvPr id="1276" name="TextBox 1275">
            <a:extLst>
              <a:ext uri="{FF2B5EF4-FFF2-40B4-BE49-F238E27FC236}">
                <a16:creationId xmlns:a16="http://schemas.microsoft.com/office/drawing/2014/main" id="{67364B1E-BBA6-51A5-A27A-CDE538E14F35}"/>
              </a:ext>
            </a:extLst>
          </p:cNvPr>
          <p:cNvSpPr txBox="1"/>
          <p:nvPr/>
        </p:nvSpPr>
        <p:spPr>
          <a:xfrm>
            <a:off x="20546409" y="17259844"/>
            <a:ext cx="2707365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Assistant</a:t>
            </a:r>
          </a:p>
        </p:txBody>
      </p:sp>
      <p:sp>
        <p:nvSpPr>
          <p:cNvPr id="1277" name="TextBox 1276">
            <a:extLst>
              <a:ext uri="{FF2B5EF4-FFF2-40B4-BE49-F238E27FC236}">
                <a16:creationId xmlns:a16="http://schemas.microsoft.com/office/drawing/2014/main" id="{B09D4123-72FD-3F98-CC4F-C5FCD68047C6}"/>
              </a:ext>
            </a:extLst>
          </p:cNvPr>
          <p:cNvSpPr txBox="1"/>
          <p:nvPr/>
        </p:nvSpPr>
        <p:spPr>
          <a:xfrm>
            <a:off x="23477867" y="17259844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垫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8" name="TextBox 1277">
            <a:extLst>
              <a:ext uri="{FF2B5EF4-FFF2-40B4-BE49-F238E27FC236}">
                <a16:creationId xmlns:a16="http://schemas.microsoft.com/office/drawing/2014/main" id="{184C3B11-76B2-F72D-C15D-D5AE1C194BAB}"/>
              </a:ext>
            </a:extLst>
          </p:cNvPr>
          <p:cNvSpPr txBox="1"/>
          <p:nvPr/>
        </p:nvSpPr>
        <p:spPr>
          <a:xfrm>
            <a:off x="24632225" y="17258390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子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9" name="TextBox 1278">
            <a:extLst>
              <a:ext uri="{FF2B5EF4-FFF2-40B4-BE49-F238E27FC236}">
                <a16:creationId xmlns:a16="http://schemas.microsoft.com/office/drawing/2014/main" id="{6110B4C3-420A-6D02-EA5D-FE3E29B7003B}"/>
              </a:ext>
            </a:extLst>
          </p:cNvPr>
          <p:cNvSpPr txBox="1"/>
          <p:nvPr/>
        </p:nvSpPr>
        <p:spPr>
          <a:xfrm>
            <a:off x="25784127" y="17259844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0" name="TextBox 1279">
            <a:extLst>
              <a:ext uri="{FF2B5EF4-FFF2-40B4-BE49-F238E27FC236}">
                <a16:creationId xmlns:a16="http://schemas.microsoft.com/office/drawing/2014/main" id="{D36C8B03-7F61-A696-3722-702E2FC0F82D}"/>
              </a:ext>
            </a:extLst>
          </p:cNvPr>
          <p:cNvSpPr txBox="1"/>
          <p:nvPr/>
        </p:nvSpPr>
        <p:spPr>
          <a:xfrm>
            <a:off x="26969412" y="17244454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EOS</a:t>
            </a:r>
          </a:p>
        </p:txBody>
      </p:sp>
      <p:sp>
        <p:nvSpPr>
          <p:cNvPr id="1281" name="TextBox 1280">
            <a:extLst>
              <a:ext uri="{FF2B5EF4-FFF2-40B4-BE49-F238E27FC236}">
                <a16:creationId xmlns:a16="http://schemas.microsoft.com/office/drawing/2014/main" id="{1122AFE8-D32F-1FF4-176E-B117AB7D72AF}"/>
              </a:ext>
            </a:extLst>
          </p:cNvPr>
          <p:cNvSpPr txBox="1"/>
          <p:nvPr/>
        </p:nvSpPr>
        <p:spPr>
          <a:xfrm>
            <a:off x="10676162" y="14317826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猫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2" name="TextBox 1281">
            <a:extLst>
              <a:ext uri="{FF2B5EF4-FFF2-40B4-BE49-F238E27FC236}">
                <a16:creationId xmlns:a16="http://schemas.microsoft.com/office/drawing/2014/main" id="{8EF7C55E-77FC-2F55-E06A-CA5C4DC85872}"/>
              </a:ext>
            </a:extLst>
          </p:cNvPr>
          <p:cNvSpPr txBox="1"/>
          <p:nvPr/>
        </p:nvSpPr>
        <p:spPr>
          <a:xfrm>
            <a:off x="12674669" y="14317826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在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3" name="TextBox 1282">
            <a:extLst>
              <a:ext uri="{FF2B5EF4-FFF2-40B4-BE49-F238E27FC236}">
                <a16:creationId xmlns:a16="http://schemas.microsoft.com/office/drawing/2014/main" id="{EB6D68E8-7371-DB93-4F9A-B272AD0E1660}"/>
              </a:ext>
            </a:extLst>
          </p:cNvPr>
          <p:cNvSpPr txBox="1"/>
          <p:nvPr/>
        </p:nvSpPr>
        <p:spPr>
          <a:xfrm>
            <a:off x="13766170" y="14317826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EOS</a:t>
            </a:r>
          </a:p>
        </p:txBody>
      </p:sp>
      <p:sp>
        <p:nvSpPr>
          <p:cNvPr id="1284" name="TextBox 1283">
            <a:extLst>
              <a:ext uri="{FF2B5EF4-FFF2-40B4-BE49-F238E27FC236}">
                <a16:creationId xmlns:a16="http://schemas.microsoft.com/office/drawing/2014/main" id="{2563B7DA-1F71-9C12-18B3-D7BA64FCBC85}"/>
              </a:ext>
            </a:extLst>
          </p:cNvPr>
          <p:cNvSpPr txBox="1"/>
          <p:nvPr/>
        </p:nvSpPr>
        <p:spPr>
          <a:xfrm>
            <a:off x="21428669" y="14317826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垫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5" name="TextBox 1284">
            <a:extLst>
              <a:ext uri="{FF2B5EF4-FFF2-40B4-BE49-F238E27FC236}">
                <a16:creationId xmlns:a16="http://schemas.microsoft.com/office/drawing/2014/main" id="{8CA86461-2BDB-E82E-2008-B1911F087875}"/>
              </a:ext>
            </a:extLst>
          </p:cNvPr>
          <p:cNvSpPr txBox="1"/>
          <p:nvPr/>
        </p:nvSpPr>
        <p:spPr>
          <a:xfrm>
            <a:off x="23447036" y="14317826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子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6" name="TextBox 1285">
            <a:extLst>
              <a:ext uri="{FF2B5EF4-FFF2-40B4-BE49-F238E27FC236}">
                <a16:creationId xmlns:a16="http://schemas.microsoft.com/office/drawing/2014/main" id="{55485E32-A0A3-7FA0-5941-044E8B7DFF3A}"/>
              </a:ext>
            </a:extLst>
          </p:cNvPr>
          <p:cNvSpPr txBox="1"/>
          <p:nvPr/>
        </p:nvSpPr>
        <p:spPr>
          <a:xfrm>
            <a:off x="24632224" y="14317826"/>
            <a:ext cx="942843" cy="70788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dirty="0" err="1"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上</a:t>
            </a:r>
            <a:endParaRPr lang="en-CN" sz="40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7" name="TextBox 1286">
            <a:extLst>
              <a:ext uri="{FF2B5EF4-FFF2-40B4-BE49-F238E27FC236}">
                <a16:creationId xmlns:a16="http://schemas.microsoft.com/office/drawing/2014/main" id="{48653D4C-62D6-3A3D-255D-9A041290880C}"/>
              </a:ext>
            </a:extLst>
          </p:cNvPr>
          <p:cNvSpPr txBox="1"/>
          <p:nvPr/>
        </p:nvSpPr>
        <p:spPr>
          <a:xfrm>
            <a:off x="25740205" y="14317826"/>
            <a:ext cx="1437839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EOS</a:t>
            </a:r>
          </a:p>
        </p:txBody>
      </p:sp>
      <p:sp>
        <p:nvSpPr>
          <p:cNvPr id="1288" name="Rounded Rectangle 1287">
            <a:extLst>
              <a:ext uri="{FF2B5EF4-FFF2-40B4-BE49-F238E27FC236}">
                <a16:creationId xmlns:a16="http://schemas.microsoft.com/office/drawing/2014/main" id="{59DB4A2A-82E3-FFC2-F99D-7BC8EA5902DC}"/>
              </a:ext>
            </a:extLst>
          </p:cNvPr>
          <p:cNvSpPr>
            <a:spLocks/>
          </p:cNvSpPr>
          <p:nvPr/>
        </p:nvSpPr>
        <p:spPr>
          <a:xfrm>
            <a:off x="3017066" y="21567218"/>
            <a:ext cx="9179435" cy="3419531"/>
          </a:xfrm>
          <a:prstGeom prst="roundRect">
            <a:avLst>
              <a:gd name="adj" fmla="val 7123"/>
            </a:avLst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CN" sz="4800" dirty="0">
                <a:solidFill>
                  <a:schemeClr val="accent3">
                    <a:lumMod val="75000"/>
                  </a:schemeClr>
                </a:solidFill>
                <a:cs typeface="Times New Roman" panose="02020603050405020304" pitchFamily="18" charset="0"/>
              </a:rPr>
              <a:t>Streaming Speech Encoder</a:t>
            </a:r>
          </a:p>
        </p:txBody>
      </p:sp>
      <p:sp>
        <p:nvSpPr>
          <p:cNvPr id="1302" name="Rounded Rectangle 1301">
            <a:extLst>
              <a:ext uri="{FF2B5EF4-FFF2-40B4-BE49-F238E27FC236}">
                <a16:creationId xmlns:a16="http://schemas.microsoft.com/office/drawing/2014/main" id="{C4B6353A-BE8D-6E3F-95A0-B792B9AD72B5}"/>
              </a:ext>
            </a:extLst>
          </p:cNvPr>
          <p:cNvSpPr>
            <a:spLocks/>
          </p:cNvSpPr>
          <p:nvPr/>
        </p:nvSpPr>
        <p:spPr>
          <a:xfrm>
            <a:off x="3027815" y="19938099"/>
            <a:ext cx="9012586" cy="707880"/>
          </a:xfrm>
          <a:prstGeom prst="roundRect">
            <a:avLst>
              <a:gd name="adj" fmla="val 712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N" sz="4800" dirty="0">
                <a:cs typeface="Times New Roman" panose="02020603050405020304" pitchFamily="18" charset="0"/>
              </a:rPr>
              <a:t>Adapter</a:t>
            </a:r>
          </a:p>
        </p:txBody>
      </p:sp>
      <p:grpSp>
        <p:nvGrpSpPr>
          <p:cNvPr id="1384" name="Group 1383">
            <a:extLst>
              <a:ext uri="{FF2B5EF4-FFF2-40B4-BE49-F238E27FC236}">
                <a16:creationId xmlns:a16="http://schemas.microsoft.com/office/drawing/2014/main" id="{5965F60D-85DF-ED62-BBEE-9C98D717C35A}"/>
              </a:ext>
            </a:extLst>
          </p:cNvPr>
          <p:cNvGrpSpPr>
            <a:grpSpLocks noChangeAspect="1"/>
          </p:cNvGrpSpPr>
          <p:nvPr/>
        </p:nvGrpSpPr>
        <p:grpSpPr>
          <a:xfrm>
            <a:off x="3913198" y="22400980"/>
            <a:ext cx="7459037" cy="2499834"/>
            <a:chOff x="7039205" y="23548686"/>
            <a:chExt cx="2915647" cy="977155"/>
          </a:xfrm>
        </p:grpSpPr>
        <p:sp>
          <p:nvSpPr>
            <p:cNvPr id="1293" name="Oval 1292">
              <a:extLst>
                <a:ext uri="{FF2B5EF4-FFF2-40B4-BE49-F238E27FC236}">
                  <a16:creationId xmlns:a16="http://schemas.microsoft.com/office/drawing/2014/main" id="{E64F973A-61CA-D1F0-6EA3-465962EEFB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6590" y="23554727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294" name="Oval 1293">
              <a:extLst>
                <a:ext uri="{FF2B5EF4-FFF2-40B4-BE49-F238E27FC236}">
                  <a16:creationId xmlns:a16="http://schemas.microsoft.com/office/drawing/2014/main" id="{C033C7E2-7CF9-095A-306F-5B4DA0B331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9353" y="23554727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295" name="Oval 1294">
              <a:extLst>
                <a:ext uri="{FF2B5EF4-FFF2-40B4-BE49-F238E27FC236}">
                  <a16:creationId xmlns:a16="http://schemas.microsoft.com/office/drawing/2014/main" id="{CA990A71-308A-1506-D332-C24FF02218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6590" y="24329853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296" name="Oval 1295">
              <a:extLst>
                <a:ext uri="{FF2B5EF4-FFF2-40B4-BE49-F238E27FC236}">
                  <a16:creationId xmlns:a16="http://schemas.microsoft.com/office/drawing/2014/main" id="{0118D67B-F6F9-7B2B-1364-430F227915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9353" y="24329853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1297" name="Straight Arrow Connector 1296">
              <a:extLst>
                <a:ext uri="{FF2B5EF4-FFF2-40B4-BE49-F238E27FC236}">
                  <a16:creationId xmlns:a16="http://schemas.microsoft.com/office/drawing/2014/main" id="{4FD976A8-9E79-04F1-00D6-0F89911E41CE}"/>
                </a:ext>
              </a:extLst>
            </p:cNvPr>
            <p:cNvCxnSpPr>
              <a:cxnSpLocks/>
              <a:endCxn id="1295" idx="0"/>
            </p:cNvCxnSpPr>
            <p:nvPr/>
          </p:nvCxnSpPr>
          <p:spPr>
            <a:xfrm>
              <a:off x="7447271" y="23750715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8" name="Straight Arrow Connector 1297">
              <a:extLst>
                <a:ext uri="{FF2B5EF4-FFF2-40B4-BE49-F238E27FC236}">
                  <a16:creationId xmlns:a16="http://schemas.microsoft.com/office/drawing/2014/main" id="{82978C51-078D-A402-90E9-C5F03EBDEE73}"/>
                </a:ext>
              </a:extLst>
            </p:cNvPr>
            <p:cNvCxnSpPr>
              <a:cxnSpLocks/>
              <a:stCxn id="1294" idx="4"/>
              <a:endCxn id="1295" idx="0"/>
            </p:cNvCxnSpPr>
            <p:nvPr/>
          </p:nvCxnSpPr>
          <p:spPr>
            <a:xfrm flipH="1">
              <a:off x="7447272" y="23750715"/>
              <a:ext cx="692763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Arrow Connector 1298">
              <a:extLst>
                <a:ext uri="{FF2B5EF4-FFF2-40B4-BE49-F238E27FC236}">
                  <a16:creationId xmlns:a16="http://schemas.microsoft.com/office/drawing/2014/main" id="{D3BD4EB1-1D0B-DC08-4C5B-054C4BE63C83}"/>
                </a:ext>
              </a:extLst>
            </p:cNvPr>
            <p:cNvCxnSpPr>
              <a:cxnSpLocks/>
              <a:stCxn id="1293" idx="4"/>
              <a:endCxn id="1296" idx="0"/>
            </p:cNvCxnSpPr>
            <p:nvPr/>
          </p:nvCxnSpPr>
          <p:spPr>
            <a:xfrm>
              <a:off x="7447272" y="23750715"/>
              <a:ext cx="692763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Arrow Connector 1299">
              <a:extLst>
                <a:ext uri="{FF2B5EF4-FFF2-40B4-BE49-F238E27FC236}">
                  <a16:creationId xmlns:a16="http://schemas.microsoft.com/office/drawing/2014/main" id="{2D019031-E136-C275-E4CE-2F7E8626D4B5}"/>
                </a:ext>
              </a:extLst>
            </p:cNvPr>
            <p:cNvCxnSpPr>
              <a:cxnSpLocks/>
              <a:stCxn id="1294" idx="4"/>
              <a:endCxn id="1296" idx="0"/>
            </p:cNvCxnSpPr>
            <p:nvPr/>
          </p:nvCxnSpPr>
          <p:spPr>
            <a:xfrm>
              <a:off x="8140035" y="23750715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3" name="Oval 1302">
              <a:extLst>
                <a:ext uri="{FF2B5EF4-FFF2-40B4-BE49-F238E27FC236}">
                  <a16:creationId xmlns:a16="http://schemas.microsoft.com/office/drawing/2014/main" id="{CED561D6-4A8B-7CA1-5D55-8CB70F4BF92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39205" y="23554727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04" name="Oval 1303">
              <a:extLst>
                <a:ext uri="{FF2B5EF4-FFF2-40B4-BE49-F238E27FC236}">
                  <a16:creationId xmlns:a16="http://schemas.microsoft.com/office/drawing/2014/main" id="{B1DE09F6-B2DC-9C45-74F3-3E9B07682DE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039205" y="24329853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1305" name="Straight Arrow Connector 1304">
              <a:extLst>
                <a:ext uri="{FF2B5EF4-FFF2-40B4-BE49-F238E27FC236}">
                  <a16:creationId xmlns:a16="http://schemas.microsoft.com/office/drawing/2014/main" id="{64161076-1EB4-6DB0-EDF1-1D081F0318EC}"/>
                </a:ext>
              </a:extLst>
            </p:cNvPr>
            <p:cNvCxnSpPr>
              <a:cxnSpLocks/>
              <a:endCxn id="1304" idx="0"/>
            </p:cNvCxnSpPr>
            <p:nvPr/>
          </p:nvCxnSpPr>
          <p:spPr>
            <a:xfrm>
              <a:off x="7129887" y="23750715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06" name="Oval 1305">
              <a:extLst>
                <a:ext uri="{FF2B5EF4-FFF2-40B4-BE49-F238E27FC236}">
                  <a16:creationId xmlns:a16="http://schemas.microsoft.com/office/drawing/2014/main" id="{D979498F-0876-A0C4-37E2-385B680F17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4072" y="23554727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07" name="Oval 1306">
              <a:extLst>
                <a:ext uri="{FF2B5EF4-FFF2-40B4-BE49-F238E27FC236}">
                  <a16:creationId xmlns:a16="http://schemas.microsoft.com/office/drawing/2014/main" id="{EA0B57BB-53F7-8B6F-3FA7-DF744F526A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04072" y="24329853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1308" name="Straight Arrow Connector 1307">
              <a:extLst>
                <a:ext uri="{FF2B5EF4-FFF2-40B4-BE49-F238E27FC236}">
                  <a16:creationId xmlns:a16="http://schemas.microsoft.com/office/drawing/2014/main" id="{FFFE0121-B270-E76D-F926-4EE8C9C110D0}"/>
                </a:ext>
              </a:extLst>
            </p:cNvPr>
            <p:cNvCxnSpPr>
              <a:cxnSpLocks/>
              <a:endCxn id="1307" idx="0"/>
            </p:cNvCxnSpPr>
            <p:nvPr/>
          </p:nvCxnSpPr>
          <p:spPr>
            <a:xfrm>
              <a:off x="7794753" y="23750715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9" name="Straight Arrow Connector 1308">
              <a:extLst>
                <a:ext uri="{FF2B5EF4-FFF2-40B4-BE49-F238E27FC236}">
                  <a16:creationId xmlns:a16="http://schemas.microsoft.com/office/drawing/2014/main" id="{5A9A5A7E-8DEB-CFA9-AA78-7BE6B7190625}"/>
                </a:ext>
              </a:extLst>
            </p:cNvPr>
            <p:cNvCxnSpPr>
              <a:cxnSpLocks/>
              <a:stCxn id="1303" idx="4"/>
              <a:endCxn id="1295" idx="0"/>
            </p:cNvCxnSpPr>
            <p:nvPr/>
          </p:nvCxnSpPr>
          <p:spPr>
            <a:xfrm>
              <a:off x="7129887" y="23750715"/>
              <a:ext cx="317385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Arrow Connector 1309">
              <a:extLst>
                <a:ext uri="{FF2B5EF4-FFF2-40B4-BE49-F238E27FC236}">
                  <a16:creationId xmlns:a16="http://schemas.microsoft.com/office/drawing/2014/main" id="{819833AE-D539-BBBB-C348-AB33ACC4D9F3}"/>
                </a:ext>
              </a:extLst>
            </p:cNvPr>
            <p:cNvCxnSpPr>
              <a:cxnSpLocks/>
              <a:stCxn id="1293" idx="4"/>
              <a:endCxn id="1304" idx="0"/>
            </p:cNvCxnSpPr>
            <p:nvPr/>
          </p:nvCxnSpPr>
          <p:spPr>
            <a:xfrm flipH="1">
              <a:off x="7129887" y="23750715"/>
              <a:ext cx="317385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1" name="Straight Arrow Connector 1310">
              <a:extLst>
                <a:ext uri="{FF2B5EF4-FFF2-40B4-BE49-F238E27FC236}">
                  <a16:creationId xmlns:a16="http://schemas.microsoft.com/office/drawing/2014/main" id="{E136F53F-651F-C32D-437F-95CE51FBBCE5}"/>
                </a:ext>
              </a:extLst>
            </p:cNvPr>
            <p:cNvCxnSpPr>
              <a:cxnSpLocks/>
              <a:stCxn id="1303" idx="4"/>
              <a:endCxn id="1307" idx="0"/>
            </p:cNvCxnSpPr>
            <p:nvPr/>
          </p:nvCxnSpPr>
          <p:spPr>
            <a:xfrm>
              <a:off x="7129887" y="23750715"/>
              <a:ext cx="664867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Arrow Connector 1311">
              <a:extLst>
                <a:ext uri="{FF2B5EF4-FFF2-40B4-BE49-F238E27FC236}">
                  <a16:creationId xmlns:a16="http://schemas.microsoft.com/office/drawing/2014/main" id="{FA7B8161-290D-3E84-CC5E-13289ED01564}"/>
                </a:ext>
              </a:extLst>
            </p:cNvPr>
            <p:cNvCxnSpPr>
              <a:cxnSpLocks/>
              <a:stCxn id="1303" idx="4"/>
              <a:endCxn id="1296" idx="0"/>
            </p:cNvCxnSpPr>
            <p:nvPr/>
          </p:nvCxnSpPr>
          <p:spPr>
            <a:xfrm>
              <a:off x="7129887" y="23750715"/>
              <a:ext cx="1010148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3" name="Straight Arrow Connector 1312">
              <a:extLst>
                <a:ext uri="{FF2B5EF4-FFF2-40B4-BE49-F238E27FC236}">
                  <a16:creationId xmlns:a16="http://schemas.microsoft.com/office/drawing/2014/main" id="{CE718FAA-D517-7F5F-B323-467E16BA00ED}"/>
                </a:ext>
              </a:extLst>
            </p:cNvPr>
            <p:cNvCxnSpPr>
              <a:cxnSpLocks/>
              <a:stCxn id="1293" idx="4"/>
              <a:endCxn id="1307" idx="0"/>
            </p:cNvCxnSpPr>
            <p:nvPr/>
          </p:nvCxnSpPr>
          <p:spPr>
            <a:xfrm>
              <a:off x="7447272" y="23750715"/>
              <a:ext cx="347482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Arrow Connector 1313">
              <a:extLst>
                <a:ext uri="{FF2B5EF4-FFF2-40B4-BE49-F238E27FC236}">
                  <a16:creationId xmlns:a16="http://schemas.microsoft.com/office/drawing/2014/main" id="{A70F116E-8A59-8932-AD79-B9CE05EC9B5B}"/>
                </a:ext>
              </a:extLst>
            </p:cNvPr>
            <p:cNvCxnSpPr>
              <a:cxnSpLocks/>
              <a:stCxn id="1306" idx="4"/>
              <a:endCxn id="1304" idx="0"/>
            </p:cNvCxnSpPr>
            <p:nvPr/>
          </p:nvCxnSpPr>
          <p:spPr>
            <a:xfrm flipH="1">
              <a:off x="7129887" y="23750715"/>
              <a:ext cx="664867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5" name="Straight Arrow Connector 1314">
              <a:extLst>
                <a:ext uri="{FF2B5EF4-FFF2-40B4-BE49-F238E27FC236}">
                  <a16:creationId xmlns:a16="http://schemas.microsoft.com/office/drawing/2014/main" id="{7A905079-2D1D-AF79-8052-0DF99758AB35}"/>
                </a:ext>
              </a:extLst>
            </p:cNvPr>
            <p:cNvCxnSpPr>
              <a:cxnSpLocks/>
              <a:stCxn id="1306" idx="4"/>
              <a:endCxn id="1295" idx="0"/>
            </p:cNvCxnSpPr>
            <p:nvPr/>
          </p:nvCxnSpPr>
          <p:spPr>
            <a:xfrm flipH="1">
              <a:off x="7447272" y="23750715"/>
              <a:ext cx="347482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6" name="Straight Arrow Connector 1315">
              <a:extLst>
                <a:ext uri="{FF2B5EF4-FFF2-40B4-BE49-F238E27FC236}">
                  <a16:creationId xmlns:a16="http://schemas.microsoft.com/office/drawing/2014/main" id="{21091A6A-D24F-8BEF-5CB4-DC35C0894353}"/>
                </a:ext>
              </a:extLst>
            </p:cNvPr>
            <p:cNvCxnSpPr>
              <a:cxnSpLocks/>
              <a:stCxn id="1294" idx="4"/>
              <a:endCxn id="1307" idx="0"/>
            </p:cNvCxnSpPr>
            <p:nvPr/>
          </p:nvCxnSpPr>
          <p:spPr>
            <a:xfrm flipH="1">
              <a:off x="7794754" y="23750715"/>
              <a:ext cx="345281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Arrow Connector 1316">
              <a:extLst>
                <a:ext uri="{FF2B5EF4-FFF2-40B4-BE49-F238E27FC236}">
                  <a16:creationId xmlns:a16="http://schemas.microsoft.com/office/drawing/2014/main" id="{A51A3427-E7AD-F942-1CCE-12DCCEC135E0}"/>
                </a:ext>
              </a:extLst>
            </p:cNvPr>
            <p:cNvCxnSpPr>
              <a:cxnSpLocks/>
              <a:stCxn id="1306" idx="4"/>
              <a:endCxn id="1296" idx="0"/>
            </p:cNvCxnSpPr>
            <p:nvPr/>
          </p:nvCxnSpPr>
          <p:spPr>
            <a:xfrm>
              <a:off x="7794754" y="23750715"/>
              <a:ext cx="345281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8" name="Straight Arrow Connector 1317">
              <a:extLst>
                <a:ext uri="{FF2B5EF4-FFF2-40B4-BE49-F238E27FC236}">
                  <a16:creationId xmlns:a16="http://schemas.microsoft.com/office/drawing/2014/main" id="{8A08684F-E805-8875-861A-445081CDC014}"/>
                </a:ext>
              </a:extLst>
            </p:cNvPr>
            <p:cNvCxnSpPr>
              <a:cxnSpLocks/>
              <a:stCxn id="1294" idx="4"/>
              <a:endCxn id="1304" idx="0"/>
            </p:cNvCxnSpPr>
            <p:nvPr/>
          </p:nvCxnSpPr>
          <p:spPr>
            <a:xfrm flipH="1">
              <a:off x="7129887" y="23750715"/>
              <a:ext cx="1010148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9" name="Oval 1318">
              <a:extLst>
                <a:ext uri="{FF2B5EF4-FFF2-40B4-BE49-F238E27FC236}">
                  <a16:creationId xmlns:a16="http://schemas.microsoft.com/office/drawing/2014/main" id="{054597BF-5812-EA83-765B-E5F077191C8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80726" y="23548686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20" name="Oval 1319">
              <a:extLst>
                <a:ext uri="{FF2B5EF4-FFF2-40B4-BE49-F238E27FC236}">
                  <a16:creationId xmlns:a16="http://schemas.microsoft.com/office/drawing/2014/main" id="{4308CF3B-F89D-37B3-FECE-BFA0614E8D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73489" y="23548686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21" name="Oval 1320">
              <a:extLst>
                <a:ext uri="{FF2B5EF4-FFF2-40B4-BE49-F238E27FC236}">
                  <a16:creationId xmlns:a16="http://schemas.microsoft.com/office/drawing/2014/main" id="{C30DA61E-1B8C-0CC9-1ED6-E91E52B8B8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080726" y="24323812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22" name="Oval 1321">
              <a:extLst>
                <a:ext uri="{FF2B5EF4-FFF2-40B4-BE49-F238E27FC236}">
                  <a16:creationId xmlns:a16="http://schemas.microsoft.com/office/drawing/2014/main" id="{86043393-D35E-F6F6-CF58-5F3B2F86A2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773489" y="24323812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1323" name="Straight Arrow Connector 1322">
              <a:extLst>
                <a:ext uri="{FF2B5EF4-FFF2-40B4-BE49-F238E27FC236}">
                  <a16:creationId xmlns:a16="http://schemas.microsoft.com/office/drawing/2014/main" id="{75020BAB-90D6-387E-31FC-37E4325306C7}"/>
                </a:ext>
              </a:extLst>
            </p:cNvPr>
            <p:cNvCxnSpPr>
              <a:cxnSpLocks/>
              <a:endCxn id="1321" idx="0"/>
            </p:cNvCxnSpPr>
            <p:nvPr/>
          </p:nvCxnSpPr>
          <p:spPr>
            <a:xfrm>
              <a:off x="9171407" y="23744674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Arrow Connector 1323">
              <a:extLst>
                <a:ext uri="{FF2B5EF4-FFF2-40B4-BE49-F238E27FC236}">
                  <a16:creationId xmlns:a16="http://schemas.microsoft.com/office/drawing/2014/main" id="{7C8AE2FE-7957-05BD-18AD-431197927255}"/>
                </a:ext>
              </a:extLst>
            </p:cNvPr>
            <p:cNvCxnSpPr>
              <a:cxnSpLocks/>
              <a:stCxn id="1320" idx="4"/>
              <a:endCxn id="1321" idx="0"/>
            </p:cNvCxnSpPr>
            <p:nvPr/>
          </p:nvCxnSpPr>
          <p:spPr>
            <a:xfrm flipH="1">
              <a:off x="9171408" y="23744674"/>
              <a:ext cx="692763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Arrow Connector 1324">
              <a:extLst>
                <a:ext uri="{FF2B5EF4-FFF2-40B4-BE49-F238E27FC236}">
                  <a16:creationId xmlns:a16="http://schemas.microsoft.com/office/drawing/2014/main" id="{A6AB8ADD-922E-34C0-8FF3-934A3D0C9BE7}"/>
                </a:ext>
              </a:extLst>
            </p:cNvPr>
            <p:cNvCxnSpPr>
              <a:cxnSpLocks/>
              <a:stCxn id="1319" idx="4"/>
              <a:endCxn id="1322" idx="0"/>
            </p:cNvCxnSpPr>
            <p:nvPr/>
          </p:nvCxnSpPr>
          <p:spPr>
            <a:xfrm>
              <a:off x="9171408" y="23744674"/>
              <a:ext cx="692763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6" name="Straight Arrow Connector 1325">
              <a:extLst>
                <a:ext uri="{FF2B5EF4-FFF2-40B4-BE49-F238E27FC236}">
                  <a16:creationId xmlns:a16="http://schemas.microsoft.com/office/drawing/2014/main" id="{5FA379E9-4C13-AA3C-7D8B-5ED3977E1297}"/>
                </a:ext>
              </a:extLst>
            </p:cNvPr>
            <p:cNvCxnSpPr>
              <a:cxnSpLocks/>
              <a:endCxn id="1322" idx="0"/>
            </p:cNvCxnSpPr>
            <p:nvPr/>
          </p:nvCxnSpPr>
          <p:spPr>
            <a:xfrm>
              <a:off x="9864170" y="23747475"/>
              <a:ext cx="0" cy="5763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7" name="Oval 1326">
              <a:extLst>
                <a:ext uri="{FF2B5EF4-FFF2-40B4-BE49-F238E27FC236}">
                  <a16:creationId xmlns:a16="http://schemas.microsoft.com/office/drawing/2014/main" id="{F25FA8A0-D7A7-DDCF-90C9-3105EDDCC4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3341" y="23548686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28" name="Oval 1327">
              <a:extLst>
                <a:ext uri="{FF2B5EF4-FFF2-40B4-BE49-F238E27FC236}">
                  <a16:creationId xmlns:a16="http://schemas.microsoft.com/office/drawing/2014/main" id="{0E888D40-332C-F62B-9D5B-97DE2AB710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63341" y="24323812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1329" name="Straight Arrow Connector 1328">
              <a:extLst>
                <a:ext uri="{FF2B5EF4-FFF2-40B4-BE49-F238E27FC236}">
                  <a16:creationId xmlns:a16="http://schemas.microsoft.com/office/drawing/2014/main" id="{F476C8B0-1D24-B392-8463-C115E0BA28A2}"/>
                </a:ext>
              </a:extLst>
            </p:cNvPr>
            <p:cNvCxnSpPr>
              <a:cxnSpLocks/>
              <a:endCxn id="1328" idx="0"/>
            </p:cNvCxnSpPr>
            <p:nvPr/>
          </p:nvCxnSpPr>
          <p:spPr>
            <a:xfrm>
              <a:off x="8854022" y="23744674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30" name="Oval 1329">
              <a:extLst>
                <a:ext uri="{FF2B5EF4-FFF2-40B4-BE49-F238E27FC236}">
                  <a16:creationId xmlns:a16="http://schemas.microsoft.com/office/drawing/2014/main" id="{511F5D8C-9FD9-596F-CD95-8E79963CAE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28208" y="23548686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331" name="Oval 1330">
              <a:extLst>
                <a:ext uri="{FF2B5EF4-FFF2-40B4-BE49-F238E27FC236}">
                  <a16:creationId xmlns:a16="http://schemas.microsoft.com/office/drawing/2014/main" id="{EFE8677F-EB1E-E834-7C5A-AA982B09AB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428208" y="24323812"/>
              <a:ext cx="181363" cy="195988"/>
            </a:xfrm>
            <a:prstGeom prst="ellips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N" sz="90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cxnSp>
          <p:nvCxnSpPr>
            <p:cNvPr id="1332" name="Straight Arrow Connector 1331">
              <a:extLst>
                <a:ext uri="{FF2B5EF4-FFF2-40B4-BE49-F238E27FC236}">
                  <a16:creationId xmlns:a16="http://schemas.microsoft.com/office/drawing/2014/main" id="{50A33CDB-5FCF-72A8-CFDF-A7697F059415}"/>
                </a:ext>
              </a:extLst>
            </p:cNvPr>
            <p:cNvCxnSpPr>
              <a:cxnSpLocks/>
              <a:endCxn id="1331" idx="0"/>
            </p:cNvCxnSpPr>
            <p:nvPr/>
          </p:nvCxnSpPr>
          <p:spPr>
            <a:xfrm>
              <a:off x="9518889" y="23744674"/>
              <a:ext cx="0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Arrow Connector 1332">
              <a:extLst>
                <a:ext uri="{FF2B5EF4-FFF2-40B4-BE49-F238E27FC236}">
                  <a16:creationId xmlns:a16="http://schemas.microsoft.com/office/drawing/2014/main" id="{2DBB9B86-3875-270F-D1D7-8AD8D71141C1}"/>
                </a:ext>
              </a:extLst>
            </p:cNvPr>
            <p:cNvCxnSpPr>
              <a:cxnSpLocks/>
              <a:stCxn id="1327" idx="4"/>
              <a:endCxn id="1321" idx="0"/>
            </p:cNvCxnSpPr>
            <p:nvPr/>
          </p:nvCxnSpPr>
          <p:spPr>
            <a:xfrm>
              <a:off x="8854023" y="23744674"/>
              <a:ext cx="317385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" name="Straight Arrow Connector 1333">
              <a:extLst>
                <a:ext uri="{FF2B5EF4-FFF2-40B4-BE49-F238E27FC236}">
                  <a16:creationId xmlns:a16="http://schemas.microsoft.com/office/drawing/2014/main" id="{99BD79EE-D225-5E71-402A-25780B5426B4}"/>
                </a:ext>
              </a:extLst>
            </p:cNvPr>
            <p:cNvCxnSpPr>
              <a:cxnSpLocks/>
              <a:stCxn id="1319" idx="4"/>
              <a:endCxn id="1328" idx="0"/>
            </p:cNvCxnSpPr>
            <p:nvPr/>
          </p:nvCxnSpPr>
          <p:spPr>
            <a:xfrm flipH="1">
              <a:off x="8854023" y="23744674"/>
              <a:ext cx="317385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" name="Straight Arrow Connector 1334">
              <a:extLst>
                <a:ext uri="{FF2B5EF4-FFF2-40B4-BE49-F238E27FC236}">
                  <a16:creationId xmlns:a16="http://schemas.microsoft.com/office/drawing/2014/main" id="{313B4214-FA01-0169-85B3-8A80C25DC7F8}"/>
                </a:ext>
              </a:extLst>
            </p:cNvPr>
            <p:cNvCxnSpPr>
              <a:cxnSpLocks/>
              <a:stCxn id="1327" idx="4"/>
              <a:endCxn id="1331" idx="0"/>
            </p:cNvCxnSpPr>
            <p:nvPr/>
          </p:nvCxnSpPr>
          <p:spPr>
            <a:xfrm>
              <a:off x="8854023" y="23744674"/>
              <a:ext cx="664867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Arrow Connector 1335">
              <a:extLst>
                <a:ext uri="{FF2B5EF4-FFF2-40B4-BE49-F238E27FC236}">
                  <a16:creationId xmlns:a16="http://schemas.microsoft.com/office/drawing/2014/main" id="{292261D2-63D7-5ABE-FF20-B356117E4456}"/>
                </a:ext>
              </a:extLst>
            </p:cNvPr>
            <p:cNvCxnSpPr>
              <a:cxnSpLocks/>
              <a:stCxn id="1327" idx="4"/>
              <a:endCxn id="1322" idx="0"/>
            </p:cNvCxnSpPr>
            <p:nvPr/>
          </p:nvCxnSpPr>
          <p:spPr>
            <a:xfrm>
              <a:off x="8854023" y="23744674"/>
              <a:ext cx="1010148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Arrow Connector 1336">
              <a:extLst>
                <a:ext uri="{FF2B5EF4-FFF2-40B4-BE49-F238E27FC236}">
                  <a16:creationId xmlns:a16="http://schemas.microsoft.com/office/drawing/2014/main" id="{6A7A993C-5C64-FCCC-6F9B-F92A7B76C5E1}"/>
                </a:ext>
              </a:extLst>
            </p:cNvPr>
            <p:cNvCxnSpPr>
              <a:cxnSpLocks/>
              <a:stCxn id="1319" idx="4"/>
              <a:endCxn id="1331" idx="0"/>
            </p:cNvCxnSpPr>
            <p:nvPr/>
          </p:nvCxnSpPr>
          <p:spPr>
            <a:xfrm>
              <a:off x="9171408" y="23744674"/>
              <a:ext cx="347482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8" name="Straight Arrow Connector 1337">
              <a:extLst>
                <a:ext uri="{FF2B5EF4-FFF2-40B4-BE49-F238E27FC236}">
                  <a16:creationId xmlns:a16="http://schemas.microsoft.com/office/drawing/2014/main" id="{52574267-3262-376D-BF1A-575D6A36B67C}"/>
                </a:ext>
              </a:extLst>
            </p:cNvPr>
            <p:cNvCxnSpPr>
              <a:cxnSpLocks/>
              <a:stCxn id="1330" idx="4"/>
              <a:endCxn id="1328" idx="0"/>
            </p:cNvCxnSpPr>
            <p:nvPr/>
          </p:nvCxnSpPr>
          <p:spPr>
            <a:xfrm flipH="1">
              <a:off x="8854023" y="23744674"/>
              <a:ext cx="664867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Arrow Connector 1338">
              <a:extLst>
                <a:ext uri="{FF2B5EF4-FFF2-40B4-BE49-F238E27FC236}">
                  <a16:creationId xmlns:a16="http://schemas.microsoft.com/office/drawing/2014/main" id="{448087F0-9F37-3194-5B3A-D7AC3556404E}"/>
                </a:ext>
              </a:extLst>
            </p:cNvPr>
            <p:cNvCxnSpPr>
              <a:cxnSpLocks/>
              <a:stCxn id="1330" idx="4"/>
              <a:endCxn id="1321" idx="0"/>
            </p:cNvCxnSpPr>
            <p:nvPr/>
          </p:nvCxnSpPr>
          <p:spPr>
            <a:xfrm flipH="1">
              <a:off x="9171408" y="23744674"/>
              <a:ext cx="347482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0" name="Straight Arrow Connector 1339">
              <a:extLst>
                <a:ext uri="{FF2B5EF4-FFF2-40B4-BE49-F238E27FC236}">
                  <a16:creationId xmlns:a16="http://schemas.microsoft.com/office/drawing/2014/main" id="{63D94441-9201-C560-F087-B44CE2F4667F}"/>
                </a:ext>
              </a:extLst>
            </p:cNvPr>
            <p:cNvCxnSpPr>
              <a:cxnSpLocks/>
              <a:stCxn id="1320" idx="4"/>
              <a:endCxn id="1331" idx="0"/>
            </p:cNvCxnSpPr>
            <p:nvPr/>
          </p:nvCxnSpPr>
          <p:spPr>
            <a:xfrm flipH="1">
              <a:off x="9518890" y="23744674"/>
              <a:ext cx="345281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1" name="Straight Arrow Connector 1340">
              <a:extLst>
                <a:ext uri="{FF2B5EF4-FFF2-40B4-BE49-F238E27FC236}">
                  <a16:creationId xmlns:a16="http://schemas.microsoft.com/office/drawing/2014/main" id="{EF60FDB5-AE0F-F0CA-3764-06A7B405D93B}"/>
                </a:ext>
              </a:extLst>
            </p:cNvPr>
            <p:cNvCxnSpPr>
              <a:cxnSpLocks/>
              <a:stCxn id="1330" idx="4"/>
              <a:endCxn id="1322" idx="0"/>
            </p:cNvCxnSpPr>
            <p:nvPr/>
          </p:nvCxnSpPr>
          <p:spPr>
            <a:xfrm>
              <a:off x="9518890" y="23744674"/>
              <a:ext cx="345281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Arrow Connector 1341">
              <a:extLst>
                <a:ext uri="{FF2B5EF4-FFF2-40B4-BE49-F238E27FC236}">
                  <a16:creationId xmlns:a16="http://schemas.microsoft.com/office/drawing/2014/main" id="{12AC29AF-D934-C6EB-6D4F-EC82F3D650AF}"/>
                </a:ext>
              </a:extLst>
            </p:cNvPr>
            <p:cNvCxnSpPr>
              <a:cxnSpLocks/>
              <a:stCxn id="1320" idx="4"/>
              <a:endCxn id="1328" idx="0"/>
            </p:cNvCxnSpPr>
            <p:nvPr/>
          </p:nvCxnSpPr>
          <p:spPr>
            <a:xfrm flipH="1">
              <a:off x="8854023" y="23744674"/>
              <a:ext cx="1010148" cy="579138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3" name="Straight Arrow Connector 1342">
              <a:extLst>
                <a:ext uri="{FF2B5EF4-FFF2-40B4-BE49-F238E27FC236}">
                  <a16:creationId xmlns:a16="http://schemas.microsoft.com/office/drawing/2014/main" id="{56F5E236-06A1-7438-CAF1-2C34D3816A81}"/>
                </a:ext>
              </a:extLst>
            </p:cNvPr>
            <p:cNvCxnSpPr>
              <a:cxnSpLocks/>
              <a:stCxn id="1327" idx="4"/>
              <a:endCxn id="1304" idx="0"/>
            </p:cNvCxnSpPr>
            <p:nvPr/>
          </p:nvCxnSpPr>
          <p:spPr>
            <a:xfrm flipH="1">
              <a:off x="7129887" y="23744674"/>
              <a:ext cx="1724136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Arrow Connector 1343">
              <a:extLst>
                <a:ext uri="{FF2B5EF4-FFF2-40B4-BE49-F238E27FC236}">
                  <a16:creationId xmlns:a16="http://schemas.microsoft.com/office/drawing/2014/main" id="{2D928F5E-DC12-2B78-0793-89890E660AAE}"/>
                </a:ext>
              </a:extLst>
            </p:cNvPr>
            <p:cNvCxnSpPr>
              <a:cxnSpLocks/>
              <a:stCxn id="1327" idx="4"/>
              <a:endCxn id="1295" idx="0"/>
            </p:cNvCxnSpPr>
            <p:nvPr/>
          </p:nvCxnSpPr>
          <p:spPr>
            <a:xfrm flipH="1">
              <a:off x="7447272" y="23744674"/>
              <a:ext cx="1406751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5" name="Straight Arrow Connector 1344">
              <a:extLst>
                <a:ext uri="{FF2B5EF4-FFF2-40B4-BE49-F238E27FC236}">
                  <a16:creationId xmlns:a16="http://schemas.microsoft.com/office/drawing/2014/main" id="{385C8F2D-7F21-B047-4BE0-C7F60D098673}"/>
                </a:ext>
              </a:extLst>
            </p:cNvPr>
            <p:cNvCxnSpPr>
              <a:cxnSpLocks/>
              <a:stCxn id="1327" idx="4"/>
              <a:endCxn id="1307" idx="0"/>
            </p:cNvCxnSpPr>
            <p:nvPr/>
          </p:nvCxnSpPr>
          <p:spPr>
            <a:xfrm flipH="1">
              <a:off x="7794754" y="23744674"/>
              <a:ext cx="1059269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Arrow Connector 1345">
              <a:extLst>
                <a:ext uri="{FF2B5EF4-FFF2-40B4-BE49-F238E27FC236}">
                  <a16:creationId xmlns:a16="http://schemas.microsoft.com/office/drawing/2014/main" id="{A6EC4A08-4F63-2698-C2F4-1CDB22776466}"/>
                </a:ext>
              </a:extLst>
            </p:cNvPr>
            <p:cNvCxnSpPr>
              <a:cxnSpLocks/>
              <a:stCxn id="1327" idx="4"/>
              <a:endCxn id="1296" idx="0"/>
            </p:cNvCxnSpPr>
            <p:nvPr/>
          </p:nvCxnSpPr>
          <p:spPr>
            <a:xfrm flipH="1">
              <a:off x="8140035" y="23744674"/>
              <a:ext cx="713988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Arrow Connector 1346">
              <a:extLst>
                <a:ext uri="{FF2B5EF4-FFF2-40B4-BE49-F238E27FC236}">
                  <a16:creationId xmlns:a16="http://schemas.microsoft.com/office/drawing/2014/main" id="{B096C440-B807-8AB0-8976-847EF6175E14}"/>
                </a:ext>
              </a:extLst>
            </p:cNvPr>
            <p:cNvCxnSpPr>
              <a:cxnSpLocks/>
              <a:stCxn id="1319" idx="4"/>
              <a:endCxn id="1296" idx="0"/>
            </p:cNvCxnSpPr>
            <p:nvPr/>
          </p:nvCxnSpPr>
          <p:spPr>
            <a:xfrm flipH="1">
              <a:off x="8140035" y="23744674"/>
              <a:ext cx="1031373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8" name="Straight Arrow Connector 1347">
              <a:extLst>
                <a:ext uri="{FF2B5EF4-FFF2-40B4-BE49-F238E27FC236}">
                  <a16:creationId xmlns:a16="http://schemas.microsoft.com/office/drawing/2014/main" id="{3A4AF795-CF2B-48BA-8422-62F6A53B8D10}"/>
                </a:ext>
              </a:extLst>
            </p:cNvPr>
            <p:cNvCxnSpPr>
              <a:cxnSpLocks/>
              <a:stCxn id="1319" idx="4"/>
              <a:endCxn id="1307" idx="0"/>
            </p:cNvCxnSpPr>
            <p:nvPr/>
          </p:nvCxnSpPr>
          <p:spPr>
            <a:xfrm flipH="1">
              <a:off x="7794754" y="23744674"/>
              <a:ext cx="1376654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Arrow Connector 1348">
              <a:extLst>
                <a:ext uri="{FF2B5EF4-FFF2-40B4-BE49-F238E27FC236}">
                  <a16:creationId xmlns:a16="http://schemas.microsoft.com/office/drawing/2014/main" id="{8303DD5C-1792-63C2-5278-20E12DD87C61}"/>
                </a:ext>
              </a:extLst>
            </p:cNvPr>
            <p:cNvCxnSpPr>
              <a:cxnSpLocks/>
              <a:stCxn id="1319" idx="4"/>
              <a:endCxn id="1295" idx="0"/>
            </p:cNvCxnSpPr>
            <p:nvPr/>
          </p:nvCxnSpPr>
          <p:spPr>
            <a:xfrm flipH="1">
              <a:off x="7447272" y="23744674"/>
              <a:ext cx="1724136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0" name="Straight Arrow Connector 1349">
              <a:extLst>
                <a:ext uri="{FF2B5EF4-FFF2-40B4-BE49-F238E27FC236}">
                  <a16:creationId xmlns:a16="http://schemas.microsoft.com/office/drawing/2014/main" id="{3FAAA724-D798-544E-4FCA-B2EA3786EE18}"/>
                </a:ext>
              </a:extLst>
            </p:cNvPr>
            <p:cNvCxnSpPr>
              <a:cxnSpLocks/>
              <a:stCxn id="1319" idx="4"/>
              <a:endCxn id="1304" idx="0"/>
            </p:cNvCxnSpPr>
            <p:nvPr/>
          </p:nvCxnSpPr>
          <p:spPr>
            <a:xfrm flipH="1">
              <a:off x="7129887" y="23744674"/>
              <a:ext cx="2041521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Arrow Connector 1350">
              <a:extLst>
                <a:ext uri="{FF2B5EF4-FFF2-40B4-BE49-F238E27FC236}">
                  <a16:creationId xmlns:a16="http://schemas.microsoft.com/office/drawing/2014/main" id="{110269D3-DFA7-1AEA-A016-55B64399E983}"/>
                </a:ext>
              </a:extLst>
            </p:cNvPr>
            <p:cNvCxnSpPr>
              <a:cxnSpLocks/>
              <a:stCxn id="1330" idx="4"/>
              <a:endCxn id="1296" idx="0"/>
            </p:cNvCxnSpPr>
            <p:nvPr/>
          </p:nvCxnSpPr>
          <p:spPr>
            <a:xfrm flipH="1">
              <a:off x="8140035" y="23744674"/>
              <a:ext cx="1378855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Arrow Connector 1351">
              <a:extLst>
                <a:ext uri="{FF2B5EF4-FFF2-40B4-BE49-F238E27FC236}">
                  <a16:creationId xmlns:a16="http://schemas.microsoft.com/office/drawing/2014/main" id="{415C3565-1CFB-FF0D-C519-6A72996FC3CD}"/>
                </a:ext>
              </a:extLst>
            </p:cNvPr>
            <p:cNvCxnSpPr>
              <a:cxnSpLocks/>
              <a:stCxn id="1330" idx="4"/>
              <a:endCxn id="1307" idx="0"/>
            </p:cNvCxnSpPr>
            <p:nvPr/>
          </p:nvCxnSpPr>
          <p:spPr>
            <a:xfrm flipH="1">
              <a:off x="7794754" y="23744674"/>
              <a:ext cx="1724136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3" name="Straight Arrow Connector 1352">
              <a:extLst>
                <a:ext uri="{FF2B5EF4-FFF2-40B4-BE49-F238E27FC236}">
                  <a16:creationId xmlns:a16="http://schemas.microsoft.com/office/drawing/2014/main" id="{F091848F-C1B0-8049-0A22-E060AD158CA2}"/>
                </a:ext>
              </a:extLst>
            </p:cNvPr>
            <p:cNvCxnSpPr>
              <a:cxnSpLocks/>
              <a:stCxn id="1330" idx="4"/>
              <a:endCxn id="1295" idx="0"/>
            </p:cNvCxnSpPr>
            <p:nvPr/>
          </p:nvCxnSpPr>
          <p:spPr>
            <a:xfrm flipH="1">
              <a:off x="7447272" y="23744674"/>
              <a:ext cx="2071618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Arrow Connector 1353">
              <a:extLst>
                <a:ext uri="{FF2B5EF4-FFF2-40B4-BE49-F238E27FC236}">
                  <a16:creationId xmlns:a16="http://schemas.microsoft.com/office/drawing/2014/main" id="{974FAA98-D11B-C408-F659-BDAF74661569}"/>
                </a:ext>
              </a:extLst>
            </p:cNvPr>
            <p:cNvCxnSpPr>
              <a:cxnSpLocks/>
              <a:stCxn id="1330" idx="4"/>
              <a:endCxn id="1304" idx="0"/>
            </p:cNvCxnSpPr>
            <p:nvPr/>
          </p:nvCxnSpPr>
          <p:spPr>
            <a:xfrm flipH="1">
              <a:off x="7129887" y="23744674"/>
              <a:ext cx="2389002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5" name="Straight Arrow Connector 1354">
              <a:extLst>
                <a:ext uri="{FF2B5EF4-FFF2-40B4-BE49-F238E27FC236}">
                  <a16:creationId xmlns:a16="http://schemas.microsoft.com/office/drawing/2014/main" id="{6EF79426-45EA-52B1-3F62-11C6FC7F37E9}"/>
                </a:ext>
              </a:extLst>
            </p:cNvPr>
            <p:cNvCxnSpPr>
              <a:cxnSpLocks/>
              <a:stCxn id="1320" idx="4"/>
              <a:endCxn id="1296" idx="0"/>
            </p:cNvCxnSpPr>
            <p:nvPr/>
          </p:nvCxnSpPr>
          <p:spPr>
            <a:xfrm flipH="1">
              <a:off x="8140035" y="23744674"/>
              <a:ext cx="1724136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Arrow Connector 1355">
              <a:extLst>
                <a:ext uri="{FF2B5EF4-FFF2-40B4-BE49-F238E27FC236}">
                  <a16:creationId xmlns:a16="http://schemas.microsoft.com/office/drawing/2014/main" id="{D336C69C-8A42-1F41-79CB-B32BB47709EB}"/>
                </a:ext>
              </a:extLst>
            </p:cNvPr>
            <p:cNvCxnSpPr>
              <a:cxnSpLocks/>
              <a:stCxn id="1320" idx="4"/>
              <a:endCxn id="1307" idx="0"/>
            </p:cNvCxnSpPr>
            <p:nvPr/>
          </p:nvCxnSpPr>
          <p:spPr>
            <a:xfrm flipH="1">
              <a:off x="7794754" y="23744674"/>
              <a:ext cx="2069417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Arrow Connector 1356">
              <a:extLst>
                <a:ext uri="{FF2B5EF4-FFF2-40B4-BE49-F238E27FC236}">
                  <a16:creationId xmlns:a16="http://schemas.microsoft.com/office/drawing/2014/main" id="{941ECFEF-859E-58D9-01EB-9A96F0A5B5B1}"/>
                </a:ext>
              </a:extLst>
            </p:cNvPr>
            <p:cNvCxnSpPr>
              <a:cxnSpLocks/>
              <a:stCxn id="1320" idx="4"/>
              <a:endCxn id="1295" idx="0"/>
            </p:cNvCxnSpPr>
            <p:nvPr/>
          </p:nvCxnSpPr>
          <p:spPr>
            <a:xfrm flipH="1">
              <a:off x="7447272" y="23744674"/>
              <a:ext cx="2416899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8" name="Straight Arrow Connector 1357">
              <a:extLst>
                <a:ext uri="{FF2B5EF4-FFF2-40B4-BE49-F238E27FC236}">
                  <a16:creationId xmlns:a16="http://schemas.microsoft.com/office/drawing/2014/main" id="{46B130C7-E34B-035E-9615-0A5BD03E6FA2}"/>
                </a:ext>
              </a:extLst>
            </p:cNvPr>
            <p:cNvCxnSpPr>
              <a:cxnSpLocks/>
              <a:stCxn id="1320" idx="4"/>
              <a:endCxn id="1304" idx="0"/>
            </p:cNvCxnSpPr>
            <p:nvPr/>
          </p:nvCxnSpPr>
          <p:spPr>
            <a:xfrm flipH="1">
              <a:off x="7129887" y="23744674"/>
              <a:ext cx="2734284" cy="585179"/>
            </a:xfrm>
            <a:prstGeom prst="straightConnector1">
              <a:avLst/>
            </a:prstGeom>
            <a:ln w="3175">
              <a:solidFill>
                <a:srgbClr val="00B050"/>
              </a:solidFill>
              <a:tailEnd type="none" w="sm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74" name="Rectangle 1373">
            <a:extLst>
              <a:ext uri="{FF2B5EF4-FFF2-40B4-BE49-F238E27FC236}">
                <a16:creationId xmlns:a16="http://schemas.microsoft.com/office/drawing/2014/main" id="{8F0EFDCF-44B3-AF3F-FFCF-5BAA66DCDBF2}"/>
              </a:ext>
            </a:extLst>
          </p:cNvPr>
          <p:cNvSpPr/>
          <p:nvPr/>
        </p:nvSpPr>
        <p:spPr>
          <a:xfrm>
            <a:off x="5078208" y="19137348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1</a:t>
            </a:r>
          </a:p>
        </p:txBody>
      </p:sp>
      <p:sp>
        <p:nvSpPr>
          <p:cNvPr id="1375" name="Rectangle 1374">
            <a:extLst>
              <a:ext uri="{FF2B5EF4-FFF2-40B4-BE49-F238E27FC236}">
                <a16:creationId xmlns:a16="http://schemas.microsoft.com/office/drawing/2014/main" id="{FEF83CDF-72E1-AB3D-6428-D25B31E6BD0E}"/>
              </a:ext>
            </a:extLst>
          </p:cNvPr>
          <p:cNvSpPr/>
          <p:nvPr/>
        </p:nvSpPr>
        <p:spPr>
          <a:xfrm>
            <a:off x="9429089" y="19118285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/>
              <a:t>2</a:t>
            </a:r>
            <a:endParaRPr lang="en-CN" sz="4000" dirty="0"/>
          </a:p>
        </p:txBody>
      </p:sp>
      <p:sp>
        <p:nvSpPr>
          <p:cNvPr id="1376" name="Rectangle 1375">
            <a:extLst>
              <a:ext uri="{FF2B5EF4-FFF2-40B4-BE49-F238E27FC236}">
                <a16:creationId xmlns:a16="http://schemas.microsoft.com/office/drawing/2014/main" id="{AED33ECC-5A61-4574-A010-792C294AA990}"/>
              </a:ext>
            </a:extLst>
          </p:cNvPr>
          <p:cNvSpPr/>
          <p:nvPr/>
        </p:nvSpPr>
        <p:spPr>
          <a:xfrm>
            <a:off x="3488826" y="20781081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1</a:t>
            </a:r>
          </a:p>
        </p:txBody>
      </p:sp>
      <p:sp>
        <p:nvSpPr>
          <p:cNvPr id="1377" name="Rectangle 1376">
            <a:extLst>
              <a:ext uri="{FF2B5EF4-FFF2-40B4-BE49-F238E27FC236}">
                <a16:creationId xmlns:a16="http://schemas.microsoft.com/office/drawing/2014/main" id="{44C32D1D-5143-9F37-4750-A37B34D97337}"/>
              </a:ext>
            </a:extLst>
          </p:cNvPr>
          <p:cNvSpPr/>
          <p:nvPr/>
        </p:nvSpPr>
        <p:spPr>
          <a:xfrm>
            <a:off x="5512108" y="20781081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3</a:t>
            </a:r>
          </a:p>
        </p:txBody>
      </p:sp>
      <p:sp>
        <p:nvSpPr>
          <p:cNvPr id="1378" name="Rectangle 1377">
            <a:extLst>
              <a:ext uri="{FF2B5EF4-FFF2-40B4-BE49-F238E27FC236}">
                <a16:creationId xmlns:a16="http://schemas.microsoft.com/office/drawing/2014/main" id="{8E2AAD30-5BDA-5D23-EC67-C959EE582D24}"/>
              </a:ext>
            </a:extLst>
          </p:cNvPr>
          <p:cNvSpPr/>
          <p:nvPr/>
        </p:nvSpPr>
        <p:spPr>
          <a:xfrm>
            <a:off x="6542601" y="20781081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4</a:t>
            </a:r>
          </a:p>
        </p:txBody>
      </p:sp>
      <p:sp>
        <p:nvSpPr>
          <p:cNvPr id="1379" name="Rectangle 1378">
            <a:extLst>
              <a:ext uri="{FF2B5EF4-FFF2-40B4-BE49-F238E27FC236}">
                <a16:creationId xmlns:a16="http://schemas.microsoft.com/office/drawing/2014/main" id="{42FED30D-0A66-1048-CFB1-37D5C794CB03}"/>
              </a:ext>
            </a:extLst>
          </p:cNvPr>
          <p:cNvSpPr/>
          <p:nvPr/>
        </p:nvSpPr>
        <p:spPr>
          <a:xfrm>
            <a:off x="4530560" y="20778366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2</a:t>
            </a:r>
          </a:p>
        </p:txBody>
      </p:sp>
      <p:sp>
        <p:nvSpPr>
          <p:cNvPr id="1380" name="Rectangle 1379">
            <a:extLst>
              <a:ext uri="{FF2B5EF4-FFF2-40B4-BE49-F238E27FC236}">
                <a16:creationId xmlns:a16="http://schemas.microsoft.com/office/drawing/2014/main" id="{4AB2473B-F895-ADB7-069B-E9BDC405C445}"/>
              </a:ext>
            </a:extLst>
          </p:cNvPr>
          <p:cNvSpPr/>
          <p:nvPr/>
        </p:nvSpPr>
        <p:spPr>
          <a:xfrm>
            <a:off x="7893088" y="20768767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5</a:t>
            </a:r>
          </a:p>
        </p:txBody>
      </p:sp>
      <p:sp>
        <p:nvSpPr>
          <p:cNvPr id="1381" name="Rectangle 1380">
            <a:extLst>
              <a:ext uri="{FF2B5EF4-FFF2-40B4-BE49-F238E27FC236}">
                <a16:creationId xmlns:a16="http://schemas.microsoft.com/office/drawing/2014/main" id="{6E8B371D-D6DE-56FA-E652-D764D9ED5705}"/>
              </a:ext>
            </a:extLst>
          </p:cNvPr>
          <p:cNvSpPr/>
          <p:nvPr/>
        </p:nvSpPr>
        <p:spPr>
          <a:xfrm>
            <a:off x="9916370" y="20768767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7</a:t>
            </a:r>
          </a:p>
        </p:txBody>
      </p:sp>
      <p:sp>
        <p:nvSpPr>
          <p:cNvPr id="1382" name="Rectangle 1381">
            <a:extLst>
              <a:ext uri="{FF2B5EF4-FFF2-40B4-BE49-F238E27FC236}">
                <a16:creationId xmlns:a16="http://schemas.microsoft.com/office/drawing/2014/main" id="{7ABA6C9A-A782-72F9-8768-FAAB8B508941}"/>
              </a:ext>
            </a:extLst>
          </p:cNvPr>
          <p:cNvSpPr/>
          <p:nvPr/>
        </p:nvSpPr>
        <p:spPr>
          <a:xfrm>
            <a:off x="10946863" y="20768767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8</a:t>
            </a:r>
          </a:p>
        </p:txBody>
      </p:sp>
      <p:sp>
        <p:nvSpPr>
          <p:cNvPr id="1383" name="Rectangle 1382">
            <a:extLst>
              <a:ext uri="{FF2B5EF4-FFF2-40B4-BE49-F238E27FC236}">
                <a16:creationId xmlns:a16="http://schemas.microsoft.com/office/drawing/2014/main" id="{D5426CA4-71F9-F974-C9AB-C71030031296}"/>
              </a:ext>
            </a:extLst>
          </p:cNvPr>
          <p:cNvSpPr/>
          <p:nvPr/>
        </p:nvSpPr>
        <p:spPr>
          <a:xfrm>
            <a:off x="8934822" y="20766052"/>
            <a:ext cx="672981" cy="70788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/>
              <a:t>6</a:t>
            </a:r>
          </a:p>
        </p:txBody>
      </p:sp>
      <p:pic>
        <p:nvPicPr>
          <p:cNvPr id="1385" name="Graphic 1384" descr="Voice outline">
            <a:extLst>
              <a:ext uri="{FF2B5EF4-FFF2-40B4-BE49-F238E27FC236}">
                <a16:creationId xmlns:a16="http://schemas.microsoft.com/office/drawing/2014/main" id="{9364251E-D08C-9BC3-321C-14D64A3271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59626" y="25031151"/>
            <a:ext cx="1261611" cy="1261611"/>
          </a:xfrm>
          <a:prstGeom prst="rect">
            <a:avLst/>
          </a:prstGeom>
        </p:spPr>
      </p:pic>
      <p:pic>
        <p:nvPicPr>
          <p:cNvPr id="1386" name="Graphic 1385" descr="Voice outline">
            <a:extLst>
              <a:ext uri="{FF2B5EF4-FFF2-40B4-BE49-F238E27FC236}">
                <a16:creationId xmlns:a16="http://schemas.microsoft.com/office/drawing/2014/main" id="{1683D00E-028B-FD0C-FCE7-3088B89A5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0538" y="25031151"/>
            <a:ext cx="1261611" cy="1261611"/>
          </a:xfrm>
          <a:prstGeom prst="rect">
            <a:avLst/>
          </a:prstGeom>
        </p:spPr>
      </p:pic>
      <p:pic>
        <p:nvPicPr>
          <p:cNvPr id="1387" name="Graphic 1386" descr="Voice outline">
            <a:extLst>
              <a:ext uri="{FF2B5EF4-FFF2-40B4-BE49-F238E27FC236}">
                <a16:creationId xmlns:a16="http://schemas.microsoft.com/office/drawing/2014/main" id="{9553676D-2A65-C4DA-48FE-E219BAC0E6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67943" y="25031151"/>
            <a:ext cx="1261611" cy="1261611"/>
          </a:xfrm>
          <a:prstGeom prst="rect">
            <a:avLst/>
          </a:prstGeom>
        </p:spPr>
      </p:pic>
      <p:pic>
        <p:nvPicPr>
          <p:cNvPr id="1388" name="Graphic 1387" descr="Voice outline">
            <a:extLst>
              <a:ext uri="{FF2B5EF4-FFF2-40B4-BE49-F238E27FC236}">
                <a16:creationId xmlns:a16="http://schemas.microsoft.com/office/drawing/2014/main" id="{7944669B-BAD7-93AC-7BF4-7AE068F3E5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4691" y="25031151"/>
            <a:ext cx="1261611" cy="1261611"/>
          </a:xfrm>
          <a:prstGeom prst="rect">
            <a:avLst/>
          </a:prstGeom>
        </p:spPr>
      </p:pic>
      <p:pic>
        <p:nvPicPr>
          <p:cNvPr id="1389" name="Graphic 1388" descr="Voice outline">
            <a:extLst>
              <a:ext uri="{FF2B5EF4-FFF2-40B4-BE49-F238E27FC236}">
                <a16:creationId xmlns:a16="http://schemas.microsoft.com/office/drawing/2014/main" id="{21EED808-2073-723B-AAF4-6D243254BD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3679" y="25031151"/>
            <a:ext cx="1261611" cy="1261611"/>
          </a:xfrm>
          <a:prstGeom prst="rect">
            <a:avLst/>
          </a:prstGeom>
        </p:spPr>
      </p:pic>
      <p:pic>
        <p:nvPicPr>
          <p:cNvPr id="1390" name="Graphic 1389" descr="Voice outline">
            <a:extLst>
              <a:ext uri="{FF2B5EF4-FFF2-40B4-BE49-F238E27FC236}">
                <a16:creationId xmlns:a16="http://schemas.microsoft.com/office/drawing/2014/main" id="{BDDCED91-46DC-7CC9-6F5B-669EF4E299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99489" y="25031151"/>
            <a:ext cx="1261611" cy="1261611"/>
          </a:xfrm>
          <a:prstGeom prst="rect">
            <a:avLst/>
          </a:prstGeom>
        </p:spPr>
      </p:pic>
      <p:pic>
        <p:nvPicPr>
          <p:cNvPr id="1391" name="Graphic 1390" descr="Voice outline">
            <a:extLst>
              <a:ext uri="{FF2B5EF4-FFF2-40B4-BE49-F238E27FC236}">
                <a16:creationId xmlns:a16="http://schemas.microsoft.com/office/drawing/2014/main" id="{3A21A83A-9ACC-CC59-F8E2-FB53D00BE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76162" y="25031151"/>
            <a:ext cx="1083909" cy="1261611"/>
          </a:xfrm>
          <a:prstGeom prst="rect">
            <a:avLst/>
          </a:prstGeom>
        </p:spPr>
      </p:pic>
      <p:cxnSp>
        <p:nvCxnSpPr>
          <p:cNvPr id="1393" name="Straight Connector 1392">
            <a:extLst>
              <a:ext uri="{FF2B5EF4-FFF2-40B4-BE49-F238E27FC236}">
                <a16:creationId xmlns:a16="http://schemas.microsoft.com/office/drawing/2014/main" id="{5970DA82-DFD6-85AE-BBC7-0E4A4E44C9D4}"/>
              </a:ext>
            </a:extLst>
          </p:cNvPr>
          <p:cNvCxnSpPr/>
          <p:nvPr/>
        </p:nvCxnSpPr>
        <p:spPr>
          <a:xfrm>
            <a:off x="3390472" y="24986751"/>
            <a:ext cx="0" cy="148975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4" name="Straight Connector 1393">
            <a:extLst>
              <a:ext uri="{FF2B5EF4-FFF2-40B4-BE49-F238E27FC236}">
                <a16:creationId xmlns:a16="http://schemas.microsoft.com/office/drawing/2014/main" id="{23132584-E56E-F932-BCDB-CEF811F3BC9A}"/>
              </a:ext>
            </a:extLst>
          </p:cNvPr>
          <p:cNvCxnSpPr/>
          <p:nvPr/>
        </p:nvCxnSpPr>
        <p:spPr>
          <a:xfrm>
            <a:off x="7642717" y="25005587"/>
            <a:ext cx="0" cy="148975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5" name="Straight Connector 1394">
            <a:extLst>
              <a:ext uri="{FF2B5EF4-FFF2-40B4-BE49-F238E27FC236}">
                <a16:creationId xmlns:a16="http://schemas.microsoft.com/office/drawing/2014/main" id="{537F06B0-2C80-9FF8-612F-77314CF537E9}"/>
              </a:ext>
            </a:extLst>
          </p:cNvPr>
          <p:cNvCxnSpPr/>
          <p:nvPr/>
        </p:nvCxnSpPr>
        <p:spPr>
          <a:xfrm>
            <a:off x="11706083" y="25438721"/>
            <a:ext cx="0" cy="148975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6" name="TextBox 1395">
            <a:extLst>
              <a:ext uri="{FF2B5EF4-FFF2-40B4-BE49-F238E27FC236}">
                <a16:creationId xmlns:a16="http://schemas.microsoft.com/office/drawing/2014/main" id="{96470A4A-ACC6-03D6-476C-B6482B375537}"/>
              </a:ext>
            </a:extLst>
          </p:cNvPr>
          <p:cNvSpPr txBox="1"/>
          <p:nvPr/>
        </p:nvSpPr>
        <p:spPr>
          <a:xfrm>
            <a:off x="3449782" y="26328375"/>
            <a:ext cx="81541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1"/>
                </a:solidFill>
              </a:rPr>
              <a:t>The cat       is on            the mat</a:t>
            </a:r>
            <a:endParaRPr lang="zh-CN" altLang="en-US" sz="4800" dirty="0">
              <a:solidFill>
                <a:schemeClr val="accent1"/>
              </a:solidFill>
            </a:endParaRPr>
          </a:p>
        </p:txBody>
      </p:sp>
      <p:cxnSp>
        <p:nvCxnSpPr>
          <p:cNvPr id="1398" name="Curved Connector 1397">
            <a:extLst>
              <a:ext uri="{FF2B5EF4-FFF2-40B4-BE49-F238E27FC236}">
                <a16:creationId xmlns:a16="http://schemas.microsoft.com/office/drawing/2014/main" id="{9AEC8794-80DD-DD72-B94C-BB536A269C32}"/>
              </a:ext>
            </a:extLst>
          </p:cNvPr>
          <p:cNvCxnSpPr>
            <a:stCxn id="1374" idx="0"/>
            <a:endCxn id="1252" idx="2"/>
          </p:cNvCxnSpPr>
          <p:nvPr/>
        </p:nvCxnSpPr>
        <p:spPr>
          <a:xfrm rot="5400000" flipH="1" flipV="1">
            <a:off x="6008680" y="17358359"/>
            <a:ext cx="1185008" cy="2372970"/>
          </a:xfrm>
          <a:prstGeom prst="curvedConnector3">
            <a:avLst/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9" name="Curved Connector 1398">
            <a:extLst>
              <a:ext uri="{FF2B5EF4-FFF2-40B4-BE49-F238E27FC236}">
                <a16:creationId xmlns:a16="http://schemas.microsoft.com/office/drawing/2014/main" id="{525BF1D0-8121-CE6D-7C49-DDF01B390305}"/>
              </a:ext>
            </a:extLst>
          </p:cNvPr>
          <p:cNvCxnSpPr>
            <a:cxnSpLocks/>
            <a:stCxn id="1375" idx="0"/>
            <a:endCxn id="1274" idx="2"/>
          </p:cNvCxnSpPr>
          <p:nvPr/>
        </p:nvCxnSpPr>
        <p:spPr>
          <a:xfrm rot="5400000" flipH="1" flipV="1">
            <a:off x="13512257" y="14221054"/>
            <a:ext cx="1150555" cy="8643909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3" name="Rounded Rectangle 1402">
            <a:extLst>
              <a:ext uri="{FF2B5EF4-FFF2-40B4-BE49-F238E27FC236}">
                <a16:creationId xmlns:a16="http://schemas.microsoft.com/office/drawing/2014/main" id="{D1C859B9-D81E-4594-D462-4A0B28E211A5}"/>
              </a:ext>
            </a:extLst>
          </p:cNvPr>
          <p:cNvSpPr/>
          <p:nvPr/>
        </p:nvSpPr>
        <p:spPr>
          <a:xfrm>
            <a:off x="16308666" y="19982388"/>
            <a:ext cx="4040397" cy="1507858"/>
          </a:xfrm>
          <a:prstGeom prst="roundRect">
            <a:avLst>
              <a:gd name="adj" fmla="val 61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&lt;INSTRUCTION&gt;</a:t>
            </a:r>
          </a:p>
        </p:txBody>
      </p:sp>
      <p:sp>
        <p:nvSpPr>
          <p:cNvPr id="1404" name="Rounded Rectangle 1403">
            <a:extLst>
              <a:ext uri="{FF2B5EF4-FFF2-40B4-BE49-F238E27FC236}">
                <a16:creationId xmlns:a16="http://schemas.microsoft.com/office/drawing/2014/main" id="{8A5CE037-46F6-B393-C312-3F9431BDA96E}"/>
              </a:ext>
            </a:extLst>
          </p:cNvPr>
          <p:cNvSpPr/>
          <p:nvPr/>
        </p:nvSpPr>
        <p:spPr>
          <a:xfrm>
            <a:off x="23273415" y="19903105"/>
            <a:ext cx="3846511" cy="1566647"/>
          </a:xfrm>
          <a:prstGeom prst="roundRect">
            <a:avLst>
              <a:gd name="adj" fmla="val 3999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Sliding Window</a:t>
            </a:r>
          </a:p>
          <a:p>
            <a:pPr algn="ctr"/>
            <a:r>
              <a:rPr lang="en-US" sz="4000" dirty="0">
                <a:cs typeface="Times New Roman" panose="02020603050405020304" pitchFamily="18" charset="0"/>
              </a:rPr>
              <a:t>o</a:t>
            </a:r>
            <a:r>
              <a:rPr lang="en-CN" sz="4000" dirty="0">
                <a:cs typeface="Times New Roman" panose="02020603050405020304" pitchFamily="18" charset="0"/>
              </a:rPr>
              <a:t>f size w</a:t>
            </a:r>
          </a:p>
        </p:txBody>
      </p:sp>
      <p:sp>
        <p:nvSpPr>
          <p:cNvPr id="1405" name="Rounded Rectangle 1404">
            <a:extLst>
              <a:ext uri="{FF2B5EF4-FFF2-40B4-BE49-F238E27FC236}">
                <a16:creationId xmlns:a16="http://schemas.microsoft.com/office/drawing/2014/main" id="{6535832C-D594-A854-D181-9E2A76040D43}"/>
              </a:ext>
            </a:extLst>
          </p:cNvPr>
          <p:cNvSpPr/>
          <p:nvPr/>
        </p:nvSpPr>
        <p:spPr>
          <a:xfrm>
            <a:off x="20510137" y="19988807"/>
            <a:ext cx="2595617" cy="1484473"/>
          </a:xfrm>
          <a:prstGeom prst="roundRect">
            <a:avLst>
              <a:gd name="adj" fmla="val 399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Discarded</a:t>
            </a:r>
          </a:p>
        </p:txBody>
      </p:sp>
      <p:sp>
        <p:nvSpPr>
          <p:cNvPr id="1406" name="Rounded Rectangle 1405">
            <a:extLst>
              <a:ext uri="{FF2B5EF4-FFF2-40B4-BE49-F238E27FC236}">
                <a16:creationId xmlns:a16="http://schemas.microsoft.com/office/drawing/2014/main" id="{C3E7DFBA-489D-E6B5-4A41-8DDB77B890F2}"/>
              </a:ext>
            </a:extLst>
          </p:cNvPr>
          <p:cNvSpPr/>
          <p:nvPr/>
        </p:nvSpPr>
        <p:spPr>
          <a:xfrm>
            <a:off x="27253274" y="19875429"/>
            <a:ext cx="2349845" cy="1577349"/>
          </a:xfrm>
          <a:prstGeom prst="roundRect">
            <a:avLst>
              <a:gd name="adj" fmla="val 9398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Current</a:t>
            </a:r>
          </a:p>
          <a:p>
            <a:pPr algn="ctr"/>
            <a:r>
              <a:rPr lang="en-CN" sz="4000" dirty="0">
                <a:cs typeface="Times New Roman" panose="02020603050405020304" pitchFamily="18" charset="0"/>
              </a:rPr>
              <a:t>Token</a:t>
            </a:r>
          </a:p>
        </p:txBody>
      </p:sp>
      <p:sp>
        <p:nvSpPr>
          <p:cNvPr id="1407" name="TextBox 1406">
            <a:extLst>
              <a:ext uri="{FF2B5EF4-FFF2-40B4-BE49-F238E27FC236}">
                <a16:creationId xmlns:a16="http://schemas.microsoft.com/office/drawing/2014/main" id="{70ED0EA9-F5F6-CCC2-05AD-8BC63753FF51}"/>
              </a:ext>
            </a:extLst>
          </p:cNvPr>
          <p:cNvSpPr txBox="1"/>
          <p:nvPr/>
        </p:nvSpPr>
        <p:spPr>
          <a:xfrm>
            <a:off x="16956319" y="18906670"/>
            <a:ext cx="10432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cs typeface="Times New Roman" panose="02020603050405020304" pitchFamily="18" charset="0"/>
              </a:rPr>
              <a:t>LLM Cache Strategy during Inference</a:t>
            </a:r>
          </a:p>
        </p:txBody>
      </p:sp>
      <p:sp>
        <p:nvSpPr>
          <p:cNvPr id="1408" name="TextBox 1407">
            <a:extLst>
              <a:ext uri="{FF2B5EF4-FFF2-40B4-BE49-F238E27FC236}">
                <a16:creationId xmlns:a16="http://schemas.microsoft.com/office/drawing/2014/main" id="{08473B2A-4AA7-84C2-FA59-40BAAEC09771}"/>
              </a:ext>
            </a:extLst>
          </p:cNvPr>
          <p:cNvSpPr txBox="1"/>
          <p:nvPr/>
        </p:nvSpPr>
        <p:spPr>
          <a:xfrm>
            <a:off x="13617512" y="20306300"/>
            <a:ext cx="2512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KV Cache</a:t>
            </a:r>
          </a:p>
        </p:txBody>
      </p:sp>
      <p:sp>
        <p:nvSpPr>
          <p:cNvPr id="1409" name="TextBox 1408">
            <a:extLst>
              <a:ext uri="{FF2B5EF4-FFF2-40B4-BE49-F238E27FC236}">
                <a16:creationId xmlns:a16="http://schemas.microsoft.com/office/drawing/2014/main" id="{D94579B5-F7A5-2189-E177-A7411A452827}"/>
              </a:ext>
            </a:extLst>
          </p:cNvPr>
          <p:cNvSpPr txBox="1"/>
          <p:nvPr/>
        </p:nvSpPr>
        <p:spPr>
          <a:xfrm>
            <a:off x="13555321" y="21581373"/>
            <a:ext cx="26310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Relative </a:t>
            </a:r>
          </a:p>
          <a:p>
            <a:pPr algn="ctr"/>
            <a:r>
              <a:rPr lang="en-CN" sz="4000" dirty="0">
                <a:cs typeface="Times New Roman" panose="02020603050405020304" pitchFamily="18" charset="0"/>
              </a:rPr>
              <a:t>Position</a:t>
            </a:r>
          </a:p>
        </p:txBody>
      </p:sp>
      <p:sp>
        <p:nvSpPr>
          <p:cNvPr id="1410" name="Rounded Rectangle 1409">
            <a:extLst>
              <a:ext uri="{FF2B5EF4-FFF2-40B4-BE49-F238E27FC236}">
                <a16:creationId xmlns:a16="http://schemas.microsoft.com/office/drawing/2014/main" id="{27F29D4A-CBA0-23C3-2E69-FEAEBC21E770}"/>
              </a:ext>
            </a:extLst>
          </p:cNvPr>
          <p:cNvSpPr/>
          <p:nvPr/>
        </p:nvSpPr>
        <p:spPr>
          <a:xfrm>
            <a:off x="16308666" y="21793706"/>
            <a:ext cx="4064916" cy="996960"/>
          </a:xfrm>
          <a:prstGeom prst="roundRect">
            <a:avLst>
              <a:gd name="adj" fmla="val 61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0,1,2,…,|INS|-1</a:t>
            </a:r>
          </a:p>
        </p:txBody>
      </p:sp>
      <p:sp>
        <p:nvSpPr>
          <p:cNvPr id="1411" name="Rounded Rectangle 1410">
            <a:extLst>
              <a:ext uri="{FF2B5EF4-FFF2-40B4-BE49-F238E27FC236}">
                <a16:creationId xmlns:a16="http://schemas.microsoft.com/office/drawing/2014/main" id="{336587DE-5FE2-525B-E203-55C949A0B2D8}"/>
              </a:ext>
            </a:extLst>
          </p:cNvPr>
          <p:cNvSpPr/>
          <p:nvPr/>
        </p:nvSpPr>
        <p:spPr>
          <a:xfrm>
            <a:off x="23253773" y="21793706"/>
            <a:ext cx="3885619" cy="996960"/>
          </a:xfrm>
          <a:prstGeom prst="roundRect">
            <a:avLst>
              <a:gd name="adj" fmla="val 61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3600" dirty="0">
                <a:cs typeface="Times New Roman" panose="02020603050405020304" pitchFamily="18" charset="0"/>
              </a:rPr>
              <a:t>|INS|,…,|INS|+w-1</a:t>
            </a:r>
          </a:p>
        </p:txBody>
      </p:sp>
      <p:sp>
        <p:nvSpPr>
          <p:cNvPr id="1412" name="Rounded Rectangle 1411">
            <a:extLst>
              <a:ext uri="{FF2B5EF4-FFF2-40B4-BE49-F238E27FC236}">
                <a16:creationId xmlns:a16="http://schemas.microsoft.com/office/drawing/2014/main" id="{B4EE6DBE-4DB4-2BF9-D9C7-F52B026655E6}"/>
              </a:ext>
            </a:extLst>
          </p:cNvPr>
          <p:cNvSpPr/>
          <p:nvPr/>
        </p:nvSpPr>
        <p:spPr>
          <a:xfrm>
            <a:off x="27311367" y="21782132"/>
            <a:ext cx="2291751" cy="996960"/>
          </a:xfrm>
          <a:prstGeom prst="roundRect">
            <a:avLst>
              <a:gd name="adj" fmla="val 6167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|INS|+w</a:t>
            </a:r>
          </a:p>
        </p:txBody>
      </p:sp>
      <p:sp>
        <p:nvSpPr>
          <p:cNvPr id="1413" name="Rounded Rectangle 1412">
            <a:extLst>
              <a:ext uri="{FF2B5EF4-FFF2-40B4-BE49-F238E27FC236}">
                <a16:creationId xmlns:a16="http://schemas.microsoft.com/office/drawing/2014/main" id="{D618A43A-E04D-77BD-09B7-C07C688A73A1}"/>
              </a:ext>
            </a:extLst>
          </p:cNvPr>
          <p:cNvSpPr/>
          <p:nvPr/>
        </p:nvSpPr>
        <p:spPr>
          <a:xfrm>
            <a:off x="20510137" y="21793706"/>
            <a:ext cx="2595617" cy="996960"/>
          </a:xfrm>
          <a:prstGeom prst="roundRect">
            <a:avLst>
              <a:gd name="adj" fmla="val 3999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4000" dirty="0">
                <a:cs typeface="Times New Roman" panose="02020603050405020304" pitchFamily="18" charset="0"/>
              </a:rPr>
              <a:t>Discarded</a:t>
            </a:r>
          </a:p>
        </p:txBody>
      </p:sp>
      <p:cxnSp>
        <p:nvCxnSpPr>
          <p:cNvPr id="1415" name="Straight Connector 1414">
            <a:extLst>
              <a:ext uri="{FF2B5EF4-FFF2-40B4-BE49-F238E27FC236}">
                <a16:creationId xmlns:a16="http://schemas.microsoft.com/office/drawing/2014/main" id="{BB5B69DE-E4B9-BCF9-50A9-8D14467BFA6F}"/>
              </a:ext>
            </a:extLst>
          </p:cNvPr>
          <p:cNvCxnSpPr>
            <a:cxnSpLocks/>
          </p:cNvCxnSpPr>
          <p:nvPr/>
        </p:nvCxnSpPr>
        <p:spPr>
          <a:xfrm>
            <a:off x="12991313" y="18781776"/>
            <a:ext cx="0" cy="8657243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6" name="Straight Connector 1415">
            <a:extLst>
              <a:ext uri="{FF2B5EF4-FFF2-40B4-BE49-F238E27FC236}">
                <a16:creationId xmlns:a16="http://schemas.microsoft.com/office/drawing/2014/main" id="{542FAF9A-2096-5606-E9FF-C3F2A390EB96}"/>
              </a:ext>
            </a:extLst>
          </p:cNvPr>
          <p:cNvCxnSpPr>
            <a:cxnSpLocks/>
          </p:cNvCxnSpPr>
          <p:nvPr/>
        </p:nvCxnSpPr>
        <p:spPr>
          <a:xfrm>
            <a:off x="12991313" y="18754803"/>
            <a:ext cx="1724614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4" name="Straight Connector 1423">
            <a:extLst>
              <a:ext uri="{FF2B5EF4-FFF2-40B4-BE49-F238E27FC236}">
                <a16:creationId xmlns:a16="http://schemas.microsoft.com/office/drawing/2014/main" id="{E12E5350-4C54-689F-6C8D-1E8CC7E530E1}"/>
              </a:ext>
            </a:extLst>
          </p:cNvPr>
          <p:cNvCxnSpPr>
            <a:cxnSpLocks/>
          </p:cNvCxnSpPr>
          <p:nvPr/>
        </p:nvCxnSpPr>
        <p:spPr>
          <a:xfrm>
            <a:off x="12991313" y="23262635"/>
            <a:ext cx="17246149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5" name="TextBox 1424">
            <a:extLst>
              <a:ext uri="{FF2B5EF4-FFF2-40B4-BE49-F238E27FC236}">
                <a16:creationId xmlns:a16="http://schemas.microsoft.com/office/drawing/2014/main" id="{3BB08E8A-99CD-8E4A-E268-F507E6720256}"/>
              </a:ext>
            </a:extLst>
          </p:cNvPr>
          <p:cNvSpPr txBox="1"/>
          <p:nvPr/>
        </p:nvSpPr>
        <p:spPr>
          <a:xfrm>
            <a:off x="16853147" y="23390320"/>
            <a:ext cx="10432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sz="4800" dirty="0">
                <a:cs typeface="Times New Roman" panose="02020603050405020304" pitchFamily="18" charset="0"/>
              </a:rPr>
              <a:t>Data Curation</a:t>
            </a:r>
          </a:p>
        </p:txBody>
      </p:sp>
      <p:pic>
        <p:nvPicPr>
          <p:cNvPr id="1459" name="Graphic 1458" descr="Voice outline">
            <a:extLst>
              <a:ext uri="{FF2B5EF4-FFF2-40B4-BE49-F238E27FC236}">
                <a16:creationId xmlns:a16="http://schemas.microsoft.com/office/drawing/2014/main" id="{62E2FAD7-E6F3-3546-A0C5-9A808F7F05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42214" y="24441904"/>
            <a:ext cx="1261611" cy="1261611"/>
          </a:xfrm>
          <a:prstGeom prst="rect">
            <a:avLst/>
          </a:prstGeom>
        </p:spPr>
      </p:pic>
      <p:pic>
        <p:nvPicPr>
          <p:cNvPr id="1460" name="Graphic 1459" descr="Voice outline">
            <a:extLst>
              <a:ext uri="{FF2B5EF4-FFF2-40B4-BE49-F238E27FC236}">
                <a16:creationId xmlns:a16="http://schemas.microsoft.com/office/drawing/2014/main" id="{A353D09C-1015-E455-1212-566CE9C3E6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63126" y="24441904"/>
            <a:ext cx="1261611" cy="1261611"/>
          </a:xfrm>
          <a:prstGeom prst="rect">
            <a:avLst/>
          </a:prstGeom>
        </p:spPr>
      </p:pic>
      <p:pic>
        <p:nvPicPr>
          <p:cNvPr id="1461" name="Graphic 1460" descr="Voice outline">
            <a:extLst>
              <a:ext uri="{FF2B5EF4-FFF2-40B4-BE49-F238E27FC236}">
                <a16:creationId xmlns:a16="http://schemas.microsoft.com/office/drawing/2014/main" id="{D7091227-C917-0758-35EF-7B30D53C0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50531" y="24441904"/>
            <a:ext cx="1261611" cy="1261611"/>
          </a:xfrm>
          <a:prstGeom prst="rect">
            <a:avLst/>
          </a:prstGeom>
        </p:spPr>
      </p:pic>
      <p:pic>
        <p:nvPicPr>
          <p:cNvPr id="1462" name="Graphic 1461" descr="Voice outline">
            <a:extLst>
              <a:ext uri="{FF2B5EF4-FFF2-40B4-BE49-F238E27FC236}">
                <a16:creationId xmlns:a16="http://schemas.microsoft.com/office/drawing/2014/main" id="{39E52401-0271-4754-E9A2-6E7A5670D8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067279" y="24441904"/>
            <a:ext cx="1261611" cy="1261611"/>
          </a:xfrm>
          <a:prstGeom prst="rect">
            <a:avLst/>
          </a:prstGeom>
        </p:spPr>
      </p:pic>
      <p:pic>
        <p:nvPicPr>
          <p:cNvPr id="1463" name="Graphic 1462" descr="Voice outline">
            <a:extLst>
              <a:ext uri="{FF2B5EF4-FFF2-40B4-BE49-F238E27FC236}">
                <a16:creationId xmlns:a16="http://schemas.microsoft.com/office/drawing/2014/main" id="{1EA40E00-B91D-4ED7-69FE-FFEC4796C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266267" y="24441904"/>
            <a:ext cx="1261611" cy="1261611"/>
          </a:xfrm>
          <a:prstGeom prst="rect">
            <a:avLst/>
          </a:prstGeom>
        </p:spPr>
      </p:pic>
      <p:pic>
        <p:nvPicPr>
          <p:cNvPr id="1464" name="Graphic 1463" descr="Voice outline">
            <a:extLst>
              <a:ext uri="{FF2B5EF4-FFF2-40B4-BE49-F238E27FC236}">
                <a16:creationId xmlns:a16="http://schemas.microsoft.com/office/drawing/2014/main" id="{B7F87201-FF60-0CDE-1F59-84C8EE905C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482077" y="24441904"/>
            <a:ext cx="1261611" cy="1261611"/>
          </a:xfrm>
          <a:prstGeom prst="rect">
            <a:avLst/>
          </a:prstGeom>
        </p:spPr>
      </p:pic>
      <p:sp>
        <p:nvSpPr>
          <p:cNvPr id="1469" name="TextBox 1468">
            <a:extLst>
              <a:ext uri="{FF2B5EF4-FFF2-40B4-BE49-F238E27FC236}">
                <a16:creationId xmlns:a16="http://schemas.microsoft.com/office/drawing/2014/main" id="{CC948EBA-D41C-C40E-0A80-301D2E7D8F76}"/>
              </a:ext>
            </a:extLst>
          </p:cNvPr>
          <p:cNvSpPr txBox="1"/>
          <p:nvPr/>
        </p:nvSpPr>
        <p:spPr>
          <a:xfrm>
            <a:off x="14351004" y="25817847"/>
            <a:ext cx="143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</a:rPr>
              <a:t>The</a:t>
            </a:r>
          </a:p>
        </p:txBody>
      </p:sp>
      <p:sp>
        <p:nvSpPr>
          <p:cNvPr id="1470" name="TextBox 1469">
            <a:extLst>
              <a:ext uri="{FF2B5EF4-FFF2-40B4-BE49-F238E27FC236}">
                <a16:creationId xmlns:a16="http://schemas.microsoft.com/office/drawing/2014/main" id="{6CE4154C-1960-365E-910D-CEFCDF6C5218}"/>
              </a:ext>
            </a:extLst>
          </p:cNvPr>
          <p:cNvSpPr txBox="1"/>
          <p:nvPr/>
        </p:nvSpPr>
        <p:spPr>
          <a:xfrm>
            <a:off x="15441807" y="25809783"/>
            <a:ext cx="143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</a:rPr>
              <a:t>cat</a:t>
            </a:r>
          </a:p>
        </p:txBody>
      </p:sp>
      <p:sp>
        <p:nvSpPr>
          <p:cNvPr id="1471" name="TextBox 1470">
            <a:extLst>
              <a:ext uri="{FF2B5EF4-FFF2-40B4-BE49-F238E27FC236}">
                <a16:creationId xmlns:a16="http://schemas.microsoft.com/office/drawing/2014/main" id="{74751A52-1272-9795-0613-67A3CB8FD165}"/>
              </a:ext>
            </a:extLst>
          </p:cNvPr>
          <p:cNvSpPr txBox="1"/>
          <p:nvPr/>
        </p:nvSpPr>
        <p:spPr>
          <a:xfrm>
            <a:off x="16345027" y="25819896"/>
            <a:ext cx="143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</a:rPr>
              <a:t>is</a:t>
            </a:r>
          </a:p>
        </p:txBody>
      </p:sp>
      <p:cxnSp>
        <p:nvCxnSpPr>
          <p:cNvPr id="1473" name="Straight Connector 1472">
            <a:extLst>
              <a:ext uri="{FF2B5EF4-FFF2-40B4-BE49-F238E27FC236}">
                <a16:creationId xmlns:a16="http://schemas.microsoft.com/office/drawing/2014/main" id="{75109D5C-CD53-8773-8CE7-01A112A5FBFF}"/>
              </a:ext>
            </a:extLst>
          </p:cNvPr>
          <p:cNvCxnSpPr>
            <a:cxnSpLocks/>
          </p:cNvCxnSpPr>
          <p:nvPr/>
        </p:nvCxnSpPr>
        <p:spPr>
          <a:xfrm>
            <a:off x="14483583" y="24717446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5" name="Straight Connector 1474">
            <a:extLst>
              <a:ext uri="{FF2B5EF4-FFF2-40B4-BE49-F238E27FC236}">
                <a16:creationId xmlns:a16="http://schemas.microsoft.com/office/drawing/2014/main" id="{DA00812E-1CFF-4905-8B05-37C05249C8F8}"/>
              </a:ext>
            </a:extLst>
          </p:cNvPr>
          <p:cNvCxnSpPr>
            <a:cxnSpLocks/>
          </p:cNvCxnSpPr>
          <p:nvPr/>
        </p:nvCxnSpPr>
        <p:spPr>
          <a:xfrm>
            <a:off x="15658446" y="24669945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8" name="Straight Connector 1477">
            <a:extLst>
              <a:ext uri="{FF2B5EF4-FFF2-40B4-BE49-F238E27FC236}">
                <a16:creationId xmlns:a16="http://schemas.microsoft.com/office/drawing/2014/main" id="{096686FB-4441-D37B-0854-DBD06EF1BBEF}"/>
              </a:ext>
            </a:extLst>
          </p:cNvPr>
          <p:cNvCxnSpPr>
            <a:cxnSpLocks/>
          </p:cNvCxnSpPr>
          <p:nvPr/>
        </p:nvCxnSpPr>
        <p:spPr>
          <a:xfrm>
            <a:off x="16642119" y="24656091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9" name="Straight Connector 1478">
            <a:extLst>
              <a:ext uri="{FF2B5EF4-FFF2-40B4-BE49-F238E27FC236}">
                <a16:creationId xmlns:a16="http://schemas.microsoft.com/office/drawing/2014/main" id="{11BD6047-3ACA-44C3-DC19-3ACE90D99662}"/>
              </a:ext>
            </a:extLst>
          </p:cNvPr>
          <p:cNvCxnSpPr>
            <a:cxnSpLocks/>
          </p:cNvCxnSpPr>
          <p:nvPr/>
        </p:nvCxnSpPr>
        <p:spPr>
          <a:xfrm>
            <a:off x="17434157" y="24656090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0" name="Straight Connector 1479">
            <a:extLst>
              <a:ext uri="{FF2B5EF4-FFF2-40B4-BE49-F238E27FC236}">
                <a16:creationId xmlns:a16="http://schemas.microsoft.com/office/drawing/2014/main" id="{67B344A6-6FA1-46AE-CB89-5BAE78C60F34}"/>
              </a:ext>
            </a:extLst>
          </p:cNvPr>
          <p:cNvCxnSpPr>
            <a:cxnSpLocks/>
          </p:cNvCxnSpPr>
          <p:nvPr/>
        </p:nvCxnSpPr>
        <p:spPr>
          <a:xfrm>
            <a:off x="18331308" y="24667965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1" name="TextBox 1480">
            <a:extLst>
              <a:ext uri="{FF2B5EF4-FFF2-40B4-BE49-F238E27FC236}">
                <a16:creationId xmlns:a16="http://schemas.microsoft.com/office/drawing/2014/main" id="{478D9DAC-8752-2614-8737-9D65AF2B7AB0}"/>
              </a:ext>
            </a:extLst>
          </p:cNvPr>
          <p:cNvSpPr txBox="1"/>
          <p:nvPr/>
        </p:nvSpPr>
        <p:spPr>
          <a:xfrm>
            <a:off x="17206139" y="25808021"/>
            <a:ext cx="143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</a:rPr>
              <a:t>on</a:t>
            </a:r>
          </a:p>
        </p:txBody>
      </p:sp>
      <p:sp>
        <p:nvSpPr>
          <p:cNvPr id="1483" name="TextBox 1482">
            <a:extLst>
              <a:ext uri="{FF2B5EF4-FFF2-40B4-BE49-F238E27FC236}">
                <a16:creationId xmlns:a16="http://schemas.microsoft.com/office/drawing/2014/main" id="{58EEB7C9-C5A3-5527-0AC0-BD9638E9BADB}"/>
              </a:ext>
            </a:extLst>
          </p:cNvPr>
          <p:cNvSpPr txBox="1"/>
          <p:nvPr/>
        </p:nvSpPr>
        <p:spPr>
          <a:xfrm>
            <a:off x="18598040" y="25806041"/>
            <a:ext cx="143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</a:rPr>
              <a:t>the</a:t>
            </a:r>
          </a:p>
        </p:txBody>
      </p:sp>
      <p:sp>
        <p:nvSpPr>
          <p:cNvPr id="1484" name="TextBox 1483">
            <a:extLst>
              <a:ext uri="{FF2B5EF4-FFF2-40B4-BE49-F238E27FC236}">
                <a16:creationId xmlns:a16="http://schemas.microsoft.com/office/drawing/2014/main" id="{D3A8226F-7290-BD73-7415-5E631DB4A45E}"/>
              </a:ext>
            </a:extLst>
          </p:cNvPr>
          <p:cNvSpPr txBox="1"/>
          <p:nvPr/>
        </p:nvSpPr>
        <p:spPr>
          <a:xfrm>
            <a:off x="19926097" y="25792186"/>
            <a:ext cx="14378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chemeClr val="accent1"/>
                </a:solidFill>
              </a:rPr>
              <a:t>mat</a:t>
            </a:r>
          </a:p>
        </p:txBody>
      </p:sp>
      <p:cxnSp>
        <p:nvCxnSpPr>
          <p:cNvPr id="1485" name="Straight Connector 1484">
            <a:extLst>
              <a:ext uri="{FF2B5EF4-FFF2-40B4-BE49-F238E27FC236}">
                <a16:creationId xmlns:a16="http://schemas.microsoft.com/office/drawing/2014/main" id="{EEB7A366-3E5F-D408-5D17-1CFC820BC563}"/>
              </a:ext>
            </a:extLst>
          </p:cNvPr>
          <p:cNvCxnSpPr>
            <a:cxnSpLocks/>
          </p:cNvCxnSpPr>
          <p:nvPr/>
        </p:nvCxnSpPr>
        <p:spPr>
          <a:xfrm>
            <a:off x="19861245" y="24677861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6" name="Straight Connector 1485">
            <a:extLst>
              <a:ext uri="{FF2B5EF4-FFF2-40B4-BE49-F238E27FC236}">
                <a16:creationId xmlns:a16="http://schemas.microsoft.com/office/drawing/2014/main" id="{7DA7D5F2-7B54-8F3E-AD07-359F7873B1CE}"/>
              </a:ext>
            </a:extLst>
          </p:cNvPr>
          <p:cNvCxnSpPr>
            <a:cxnSpLocks/>
          </p:cNvCxnSpPr>
          <p:nvPr/>
        </p:nvCxnSpPr>
        <p:spPr>
          <a:xfrm>
            <a:off x="21260554" y="24675882"/>
            <a:ext cx="0" cy="1953379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88" name="Graphic 1487" descr="Badge 1 with solid fill">
            <a:extLst>
              <a:ext uri="{FF2B5EF4-FFF2-40B4-BE49-F238E27FC236}">
                <a16:creationId xmlns:a16="http://schemas.microsoft.com/office/drawing/2014/main" id="{D26DC45E-0CF4-1F9A-532D-CF51BC80B6F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436917" y="25091760"/>
            <a:ext cx="682476" cy="682476"/>
          </a:xfrm>
          <a:prstGeom prst="rect">
            <a:avLst/>
          </a:prstGeom>
        </p:spPr>
      </p:pic>
      <p:sp>
        <p:nvSpPr>
          <p:cNvPr id="1489" name="TextBox 1488">
            <a:extLst>
              <a:ext uri="{FF2B5EF4-FFF2-40B4-BE49-F238E27FC236}">
                <a16:creationId xmlns:a16="http://schemas.microsoft.com/office/drawing/2014/main" id="{77A7D0B8-A1C4-65F8-F35C-997EA26F49CE}"/>
              </a:ext>
            </a:extLst>
          </p:cNvPr>
          <p:cNvSpPr txBox="1"/>
          <p:nvPr/>
        </p:nvSpPr>
        <p:spPr>
          <a:xfrm>
            <a:off x="21924154" y="25723736"/>
            <a:ext cx="21226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4000" dirty="0"/>
              <a:t>SimAlign</a:t>
            </a:r>
          </a:p>
        </p:txBody>
      </p:sp>
      <p:pic>
        <p:nvPicPr>
          <p:cNvPr id="1499" name="Graphic 1498" descr="Badge with solid fill">
            <a:extLst>
              <a:ext uri="{FF2B5EF4-FFF2-40B4-BE49-F238E27FC236}">
                <a16:creationId xmlns:a16="http://schemas.microsoft.com/office/drawing/2014/main" id="{0F93C227-032D-4E15-99FB-E44621315C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462156" y="24847758"/>
            <a:ext cx="914400" cy="914400"/>
          </a:xfrm>
          <a:prstGeom prst="rect">
            <a:avLst/>
          </a:prstGeom>
        </p:spPr>
      </p:pic>
      <p:sp>
        <p:nvSpPr>
          <p:cNvPr id="1500" name="TextBox 1499">
            <a:extLst>
              <a:ext uri="{FF2B5EF4-FFF2-40B4-BE49-F238E27FC236}">
                <a16:creationId xmlns:a16="http://schemas.microsoft.com/office/drawing/2014/main" id="{571505EE-5784-E3BA-ED51-25722323D88E}"/>
              </a:ext>
            </a:extLst>
          </p:cNvPr>
          <p:cNvSpPr txBox="1"/>
          <p:nvPr/>
        </p:nvSpPr>
        <p:spPr>
          <a:xfrm>
            <a:off x="13222925" y="25723736"/>
            <a:ext cx="1145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4000" dirty="0"/>
              <a:t>MFA</a:t>
            </a:r>
          </a:p>
        </p:txBody>
      </p:sp>
      <p:sp>
        <p:nvSpPr>
          <p:cNvPr id="1502" name="TextBox 1501">
            <a:extLst>
              <a:ext uri="{FF2B5EF4-FFF2-40B4-BE49-F238E27FC236}">
                <a16:creationId xmlns:a16="http://schemas.microsoft.com/office/drawing/2014/main" id="{F44DDE04-B959-E507-D98B-70405B89DA5E}"/>
              </a:ext>
            </a:extLst>
          </p:cNvPr>
          <p:cNvSpPr txBox="1"/>
          <p:nvPr/>
        </p:nvSpPr>
        <p:spPr>
          <a:xfrm>
            <a:off x="23973351" y="24638789"/>
            <a:ext cx="5761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1"/>
                </a:solidFill>
              </a:rPr>
              <a:t>The cat is on the mat </a:t>
            </a:r>
          </a:p>
        </p:txBody>
      </p:sp>
      <p:sp>
        <p:nvSpPr>
          <p:cNvPr id="1504" name="TextBox 1503">
            <a:extLst>
              <a:ext uri="{FF2B5EF4-FFF2-40B4-BE49-F238E27FC236}">
                <a16:creationId xmlns:a16="http://schemas.microsoft.com/office/drawing/2014/main" id="{17C94A8B-CA60-1AAB-EBCC-8B10949C29D0}"/>
              </a:ext>
            </a:extLst>
          </p:cNvPr>
          <p:cNvSpPr txBox="1"/>
          <p:nvPr/>
        </p:nvSpPr>
        <p:spPr>
          <a:xfrm>
            <a:off x="24781728" y="25803324"/>
            <a:ext cx="5761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chemeClr val="accent1"/>
                </a:solidFill>
              </a:rPr>
              <a:t>猫 在 垫子 上</a:t>
            </a:r>
            <a:endParaRPr lang="en-US" altLang="zh-CN" sz="4800" dirty="0">
              <a:solidFill>
                <a:schemeClr val="accent1"/>
              </a:solidFill>
            </a:endParaRPr>
          </a:p>
        </p:txBody>
      </p:sp>
      <p:cxnSp>
        <p:nvCxnSpPr>
          <p:cNvPr id="1506" name="Straight Arrow Connector 1505">
            <a:extLst>
              <a:ext uri="{FF2B5EF4-FFF2-40B4-BE49-F238E27FC236}">
                <a16:creationId xmlns:a16="http://schemas.microsoft.com/office/drawing/2014/main" id="{7DEC8D62-B404-0EE0-35EB-371D3F70A462}"/>
              </a:ext>
            </a:extLst>
          </p:cNvPr>
          <p:cNvCxnSpPr/>
          <p:nvPr/>
        </p:nvCxnSpPr>
        <p:spPr>
          <a:xfrm flipV="1">
            <a:off x="25127709" y="25387941"/>
            <a:ext cx="349925" cy="39901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7" name="Straight Arrow Connector 1506">
            <a:extLst>
              <a:ext uri="{FF2B5EF4-FFF2-40B4-BE49-F238E27FC236}">
                <a16:creationId xmlns:a16="http://schemas.microsoft.com/office/drawing/2014/main" id="{3E250B39-FBED-3CE3-6604-252A1AE7E6B8}"/>
              </a:ext>
            </a:extLst>
          </p:cNvPr>
          <p:cNvCxnSpPr>
            <a:cxnSpLocks/>
          </p:cNvCxnSpPr>
          <p:nvPr/>
        </p:nvCxnSpPr>
        <p:spPr>
          <a:xfrm flipV="1">
            <a:off x="26033431" y="25404567"/>
            <a:ext cx="246180" cy="40426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0" name="Straight Arrow Connector 1509">
            <a:extLst>
              <a:ext uri="{FF2B5EF4-FFF2-40B4-BE49-F238E27FC236}">
                <a16:creationId xmlns:a16="http://schemas.microsoft.com/office/drawing/2014/main" id="{15EF1828-2615-7C35-0A0B-F17E53AFAFCB}"/>
              </a:ext>
            </a:extLst>
          </p:cNvPr>
          <p:cNvCxnSpPr>
            <a:cxnSpLocks/>
          </p:cNvCxnSpPr>
          <p:nvPr/>
        </p:nvCxnSpPr>
        <p:spPr>
          <a:xfrm flipH="1" flipV="1">
            <a:off x="26993475" y="25437818"/>
            <a:ext cx="861599" cy="37370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3" name="Straight Arrow Connector 1512">
            <a:extLst>
              <a:ext uri="{FF2B5EF4-FFF2-40B4-BE49-F238E27FC236}">
                <a16:creationId xmlns:a16="http://schemas.microsoft.com/office/drawing/2014/main" id="{CB2F6EA1-8C4C-A968-7467-11D8D1FCF250}"/>
              </a:ext>
            </a:extLst>
          </p:cNvPr>
          <p:cNvCxnSpPr>
            <a:cxnSpLocks/>
          </p:cNvCxnSpPr>
          <p:nvPr/>
        </p:nvCxnSpPr>
        <p:spPr>
          <a:xfrm flipV="1">
            <a:off x="27239932" y="25387941"/>
            <a:ext cx="1712422" cy="41257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Straight Arrow Connector 1515">
            <a:extLst>
              <a:ext uri="{FF2B5EF4-FFF2-40B4-BE49-F238E27FC236}">
                <a16:creationId xmlns:a16="http://schemas.microsoft.com/office/drawing/2014/main" id="{F684452F-17A8-C783-AC66-DF42B0C08F39}"/>
              </a:ext>
            </a:extLst>
          </p:cNvPr>
          <p:cNvCxnSpPr>
            <a:cxnSpLocks/>
          </p:cNvCxnSpPr>
          <p:nvPr/>
        </p:nvCxnSpPr>
        <p:spPr>
          <a:xfrm flipV="1">
            <a:off x="28021328" y="25371317"/>
            <a:ext cx="914400" cy="456231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27" name="Group 1526">
            <a:extLst>
              <a:ext uri="{FF2B5EF4-FFF2-40B4-BE49-F238E27FC236}">
                <a16:creationId xmlns:a16="http://schemas.microsoft.com/office/drawing/2014/main" id="{1E931CF7-B3D6-A31E-2BA9-B0059EE3B54A}"/>
              </a:ext>
            </a:extLst>
          </p:cNvPr>
          <p:cNvGrpSpPr>
            <a:grpSpLocks noChangeAspect="1"/>
          </p:cNvGrpSpPr>
          <p:nvPr/>
        </p:nvGrpSpPr>
        <p:grpSpPr>
          <a:xfrm>
            <a:off x="-31380" y="28972169"/>
            <a:ext cx="18967124" cy="6255333"/>
            <a:chOff x="216955" y="29162939"/>
            <a:chExt cx="21861256" cy="7209814"/>
          </a:xfrm>
        </p:grpSpPr>
        <p:pic>
          <p:nvPicPr>
            <p:cNvPr id="1523" name="Picture 1522">
              <a:extLst>
                <a:ext uri="{FF2B5EF4-FFF2-40B4-BE49-F238E27FC236}">
                  <a16:creationId xmlns:a16="http://schemas.microsoft.com/office/drawing/2014/main" id="{7C27A2EB-ADCD-8C17-D5A4-5A98F8D89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b="55975"/>
            <a:stretch>
              <a:fillRect/>
            </a:stretch>
          </p:blipFill>
          <p:spPr>
            <a:xfrm>
              <a:off x="216955" y="29162939"/>
              <a:ext cx="21861256" cy="5777000"/>
            </a:xfrm>
            <a:prstGeom prst="rect">
              <a:avLst/>
            </a:prstGeom>
          </p:spPr>
        </p:pic>
        <p:pic>
          <p:nvPicPr>
            <p:cNvPr id="1526" name="Picture 1525">
              <a:extLst>
                <a:ext uri="{FF2B5EF4-FFF2-40B4-BE49-F238E27FC236}">
                  <a16:creationId xmlns:a16="http://schemas.microsoft.com/office/drawing/2014/main" id="{01C78ECF-F264-DF21-8CE0-D49D8C175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t="88334"/>
            <a:stretch>
              <a:fillRect/>
            </a:stretch>
          </p:blipFill>
          <p:spPr>
            <a:xfrm>
              <a:off x="412578" y="34866511"/>
              <a:ext cx="21509921" cy="1506242"/>
            </a:xfrm>
            <a:prstGeom prst="rect">
              <a:avLst/>
            </a:prstGeom>
          </p:spPr>
        </p:pic>
      </p:grpSp>
      <p:pic>
        <p:nvPicPr>
          <p:cNvPr id="1533" name="Picture 1532">
            <a:extLst>
              <a:ext uri="{FF2B5EF4-FFF2-40B4-BE49-F238E27FC236}">
                <a16:creationId xmlns:a16="http://schemas.microsoft.com/office/drawing/2014/main" id="{5C6513F5-B6D8-B915-1FFD-C3195E3695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453" y="35493151"/>
            <a:ext cx="18884290" cy="6772752"/>
          </a:xfrm>
          <a:prstGeom prst="rect">
            <a:avLst/>
          </a:prstGeom>
        </p:spPr>
      </p:pic>
      <p:cxnSp>
        <p:nvCxnSpPr>
          <p:cNvPr id="1534" name="Straight Connector 1533">
            <a:extLst>
              <a:ext uri="{FF2B5EF4-FFF2-40B4-BE49-F238E27FC236}">
                <a16:creationId xmlns:a16="http://schemas.microsoft.com/office/drawing/2014/main" id="{2E4051FC-8639-38F2-CBC6-B454B4FD2E38}"/>
              </a:ext>
            </a:extLst>
          </p:cNvPr>
          <p:cNvCxnSpPr>
            <a:cxnSpLocks/>
          </p:cNvCxnSpPr>
          <p:nvPr/>
        </p:nvCxnSpPr>
        <p:spPr>
          <a:xfrm flipV="1">
            <a:off x="19740387" y="27489744"/>
            <a:ext cx="0" cy="1530290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7" name="TextBox 1536">
            <a:extLst>
              <a:ext uri="{FF2B5EF4-FFF2-40B4-BE49-F238E27FC236}">
                <a16:creationId xmlns:a16="http://schemas.microsoft.com/office/drawing/2014/main" id="{250036BD-71EC-07EA-498A-253D9443B937}"/>
              </a:ext>
            </a:extLst>
          </p:cNvPr>
          <p:cNvSpPr txBox="1"/>
          <p:nvPr/>
        </p:nvSpPr>
        <p:spPr>
          <a:xfrm>
            <a:off x="20179063" y="27686266"/>
            <a:ext cx="9849163" cy="152096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algn="ctr"/>
            <a:r>
              <a:rPr lang="en-US" sz="5400" b="1" dirty="0">
                <a:solidFill>
                  <a:srgbClr val="0070C0"/>
                </a:solidFill>
              </a:rPr>
              <a:t>InfiniSST works on LLMs with short context length!</a:t>
            </a:r>
          </a:p>
        </p:txBody>
      </p:sp>
      <p:pic>
        <p:nvPicPr>
          <p:cNvPr id="1543" name="Picture 1542">
            <a:extLst>
              <a:ext uri="{FF2B5EF4-FFF2-40B4-BE49-F238E27FC236}">
                <a16:creationId xmlns:a16="http://schemas.microsoft.com/office/drawing/2014/main" id="{CEB92A50-83FB-2D56-9D18-D7490406481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932058" y="29600931"/>
            <a:ext cx="9400331" cy="8731155"/>
          </a:xfrm>
          <a:prstGeom prst="rect">
            <a:avLst/>
          </a:prstGeom>
        </p:spPr>
      </p:pic>
      <p:pic>
        <p:nvPicPr>
          <p:cNvPr id="1544" name="Picture 1543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AEF52C2F-33FC-66C7-B1E9-C40A3047780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663457" y="39055947"/>
            <a:ext cx="3487588" cy="3487588"/>
          </a:xfrm>
          <a:prstGeom prst="rect">
            <a:avLst/>
          </a:prstGeom>
        </p:spPr>
      </p:pic>
      <p:pic>
        <p:nvPicPr>
          <p:cNvPr id="1545" name="Picture 154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9B3D37F-66D6-9FA1-6412-5F0D09321EC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80905" y="39055947"/>
            <a:ext cx="3532261" cy="3532261"/>
          </a:xfrm>
          <a:prstGeom prst="rect">
            <a:avLst/>
          </a:prstGeom>
        </p:spPr>
      </p:pic>
      <p:sp>
        <p:nvSpPr>
          <p:cNvPr id="1547" name="TextBox 1546">
            <a:extLst>
              <a:ext uri="{FF2B5EF4-FFF2-40B4-BE49-F238E27FC236}">
                <a16:creationId xmlns:a16="http://schemas.microsoft.com/office/drawing/2014/main" id="{C4307BDE-24D7-9BDB-0F20-A55EFE8F935C}"/>
              </a:ext>
            </a:extLst>
          </p:cNvPr>
          <p:cNvSpPr txBox="1"/>
          <p:nvPr/>
        </p:nvSpPr>
        <p:spPr>
          <a:xfrm>
            <a:off x="20356446" y="40102376"/>
            <a:ext cx="17572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4400" dirty="0"/>
              <a:t>About </a:t>
            </a:r>
          </a:p>
          <a:p>
            <a:pPr algn="ctr"/>
            <a:r>
              <a:rPr lang="en-CN" sz="4400" dirty="0"/>
              <a:t>Me</a:t>
            </a:r>
          </a:p>
        </p:txBody>
      </p:sp>
      <p:sp>
        <p:nvSpPr>
          <p:cNvPr id="1548" name="TextBox 1547">
            <a:extLst>
              <a:ext uri="{FF2B5EF4-FFF2-40B4-BE49-F238E27FC236}">
                <a16:creationId xmlns:a16="http://schemas.microsoft.com/office/drawing/2014/main" id="{B60BC8B4-B3D4-62EF-6AF5-F76CE6E378C5}"/>
              </a:ext>
            </a:extLst>
          </p:cNvPr>
          <p:cNvSpPr txBox="1"/>
          <p:nvPr/>
        </p:nvSpPr>
        <p:spPr>
          <a:xfrm>
            <a:off x="24984566" y="40102376"/>
            <a:ext cx="193193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4400" dirty="0"/>
              <a:t>GitHub</a:t>
            </a:r>
          </a:p>
          <a:p>
            <a:pPr algn="ctr"/>
            <a:r>
              <a:rPr lang="en-CN" sz="4400" dirty="0"/>
              <a:t>Repo</a:t>
            </a:r>
          </a:p>
        </p:txBody>
      </p:sp>
      <p:cxnSp>
        <p:nvCxnSpPr>
          <p:cNvPr id="1549" name="Straight Connector 1548">
            <a:extLst>
              <a:ext uri="{FF2B5EF4-FFF2-40B4-BE49-F238E27FC236}">
                <a16:creationId xmlns:a16="http://schemas.microsoft.com/office/drawing/2014/main" id="{BBF7FF4A-2E64-EEB3-EC7C-03B5483EB91A}"/>
              </a:ext>
            </a:extLst>
          </p:cNvPr>
          <p:cNvCxnSpPr>
            <a:cxnSpLocks/>
          </p:cNvCxnSpPr>
          <p:nvPr/>
        </p:nvCxnSpPr>
        <p:spPr>
          <a:xfrm>
            <a:off x="19773900" y="38862000"/>
            <a:ext cx="1049178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079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1104</TotalTime>
  <Words>212</Words>
  <Application>Microsoft Macintosh PowerPoint</Application>
  <PresentationFormat>Custom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DengXian</vt:lpstr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思琦 欧阳</dc:creator>
  <cp:lastModifiedBy>思琦 欧阳</cp:lastModifiedBy>
  <cp:revision>277</cp:revision>
  <dcterms:created xsi:type="dcterms:W3CDTF">2025-03-30T17:27:14Z</dcterms:created>
  <dcterms:modified xsi:type="dcterms:W3CDTF">2025-06-30T06:25:50Z</dcterms:modified>
</cp:coreProperties>
</file>